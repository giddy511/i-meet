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2A28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87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B2ADC5-B797-4065-A978-8DBA3575F65E}" type="doc">
      <dgm:prSet loTypeId="urn:microsoft.com/office/officeart/2005/8/layout/hProcess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A92C29C-BA30-443A-9C28-680E7B534EFD}">
      <dgm:prSet phldrT="[Text]"/>
      <dgm:spPr>
        <a:solidFill>
          <a:schemeClr val="tx1"/>
        </a:solidFill>
      </dgm:spPr>
      <dgm:t>
        <a:bodyPr/>
        <a:lstStyle/>
        <a:p>
          <a:endParaRPr lang="en-GB" dirty="0">
            <a:solidFill>
              <a:srgbClr val="FF0000"/>
            </a:solidFill>
          </a:endParaRPr>
        </a:p>
      </dgm:t>
    </dgm:pt>
    <dgm:pt modelId="{69BF7C2D-C89F-465C-912C-19C972ACDC4D}" type="parTrans" cxnId="{EB091E29-7BC7-47A7-90D8-2775D6DD0233}">
      <dgm:prSet/>
      <dgm:spPr/>
      <dgm:t>
        <a:bodyPr/>
        <a:lstStyle/>
        <a:p>
          <a:endParaRPr lang="en-GB"/>
        </a:p>
      </dgm:t>
    </dgm:pt>
    <dgm:pt modelId="{A26B7E16-0F92-49D5-B176-7E6CED9AF8AE}" type="sibTrans" cxnId="{EB091E29-7BC7-47A7-90D8-2775D6DD0233}">
      <dgm:prSet/>
      <dgm:spPr/>
      <dgm:t>
        <a:bodyPr/>
        <a:lstStyle/>
        <a:p>
          <a:endParaRPr lang="en-GB"/>
        </a:p>
      </dgm:t>
    </dgm:pt>
    <dgm:pt modelId="{5EC22D2D-0C7E-4260-8DF7-2C4F54C8C0C5}">
      <dgm:prSet phldrT="[Text]" custT="1"/>
      <dgm:spPr/>
      <dgm:t>
        <a:bodyPr/>
        <a:lstStyle/>
        <a:p>
          <a:r>
            <a:rPr lang="en-US" sz="3600" dirty="0" smtClean="0"/>
            <a:t>Stateless Flask app instances behind a load balancer</a:t>
          </a:r>
          <a:endParaRPr lang="en-GB" sz="3600" dirty="0"/>
        </a:p>
      </dgm:t>
    </dgm:pt>
    <dgm:pt modelId="{8D91AC8C-8340-42C3-9E89-FE74CBE36804}" type="parTrans" cxnId="{5C21A2D1-9FCB-4FC2-8BF9-83C5ACFDBCC2}">
      <dgm:prSet/>
      <dgm:spPr/>
      <dgm:t>
        <a:bodyPr/>
        <a:lstStyle/>
        <a:p>
          <a:endParaRPr lang="en-GB"/>
        </a:p>
      </dgm:t>
    </dgm:pt>
    <dgm:pt modelId="{63427288-DB11-4CAA-975E-394393ADF79C}" type="sibTrans" cxnId="{5C21A2D1-9FCB-4FC2-8BF9-83C5ACFDBCC2}">
      <dgm:prSet/>
      <dgm:spPr/>
      <dgm:t>
        <a:bodyPr/>
        <a:lstStyle/>
        <a:p>
          <a:endParaRPr lang="en-GB"/>
        </a:p>
      </dgm:t>
    </dgm:pt>
    <dgm:pt modelId="{5C6DA1BD-8862-4F74-B483-01103D82FF72}">
      <dgm:prSet phldrT="[Text]"/>
      <dgm:spPr>
        <a:solidFill>
          <a:srgbClr val="C00000"/>
        </a:solidFill>
      </dgm:spPr>
      <dgm:t>
        <a:bodyPr/>
        <a:lstStyle/>
        <a:p>
          <a:endParaRPr lang="en-GB" dirty="0"/>
        </a:p>
      </dgm:t>
    </dgm:pt>
    <dgm:pt modelId="{80465FC2-7E1C-4FA8-A5A2-23BD5BDDF659}" type="parTrans" cxnId="{3AFE2BA8-5899-4D10-8F6D-25B4A06699B6}">
      <dgm:prSet/>
      <dgm:spPr/>
      <dgm:t>
        <a:bodyPr/>
        <a:lstStyle/>
        <a:p>
          <a:endParaRPr lang="en-GB"/>
        </a:p>
      </dgm:t>
    </dgm:pt>
    <dgm:pt modelId="{8786EB24-D56D-41D1-B9B4-1CF8B3E1F686}" type="sibTrans" cxnId="{3AFE2BA8-5899-4D10-8F6D-25B4A06699B6}">
      <dgm:prSet/>
      <dgm:spPr/>
      <dgm:t>
        <a:bodyPr/>
        <a:lstStyle/>
        <a:p>
          <a:endParaRPr lang="en-GB"/>
        </a:p>
      </dgm:t>
    </dgm:pt>
    <dgm:pt modelId="{2E96B23B-6C8B-41D2-B46A-1BD44F0B63D2}">
      <dgm:prSet phldrT="[Text]"/>
      <dgm:spPr/>
      <dgm:t>
        <a:bodyPr/>
        <a:lstStyle/>
        <a:p>
          <a:r>
            <a:rPr lang="en-US" dirty="0" smtClean="0"/>
            <a:t>Offload media to object storage (Blob/S3) and serve via CDN</a:t>
          </a:r>
          <a:endParaRPr lang="en-GB" dirty="0"/>
        </a:p>
      </dgm:t>
    </dgm:pt>
    <dgm:pt modelId="{917A65CD-6994-4D9A-A73F-50ABC2E2B0DD}" type="parTrans" cxnId="{A72CC8F4-4F19-4CE9-A63F-A1EA430E0963}">
      <dgm:prSet/>
      <dgm:spPr/>
      <dgm:t>
        <a:bodyPr/>
        <a:lstStyle/>
        <a:p>
          <a:endParaRPr lang="en-GB"/>
        </a:p>
      </dgm:t>
    </dgm:pt>
    <dgm:pt modelId="{15D3504E-0596-496C-A821-879A005EFCA8}" type="sibTrans" cxnId="{A72CC8F4-4F19-4CE9-A63F-A1EA430E0963}">
      <dgm:prSet/>
      <dgm:spPr/>
      <dgm:t>
        <a:bodyPr/>
        <a:lstStyle/>
        <a:p>
          <a:endParaRPr lang="en-GB"/>
        </a:p>
      </dgm:t>
    </dgm:pt>
    <dgm:pt modelId="{24D2BFD8-964C-4B04-A449-EB52E4481351}">
      <dgm:prSet phldrT="[Text]"/>
      <dgm:spPr>
        <a:solidFill>
          <a:srgbClr val="800000"/>
        </a:solidFill>
      </dgm:spPr>
      <dgm:t>
        <a:bodyPr/>
        <a:lstStyle/>
        <a:p>
          <a:endParaRPr lang="en-GB" dirty="0"/>
        </a:p>
      </dgm:t>
    </dgm:pt>
    <dgm:pt modelId="{F2EFE525-DACF-4ABC-A773-DC8A773A1A85}" type="parTrans" cxnId="{28425BAC-2AFD-4A37-807A-FF4712B1BA65}">
      <dgm:prSet/>
      <dgm:spPr/>
      <dgm:t>
        <a:bodyPr/>
        <a:lstStyle/>
        <a:p>
          <a:endParaRPr lang="en-GB"/>
        </a:p>
      </dgm:t>
    </dgm:pt>
    <dgm:pt modelId="{97C60865-48A3-4BCA-B376-41BEE7F6BD0F}" type="sibTrans" cxnId="{28425BAC-2AFD-4A37-807A-FF4712B1BA65}">
      <dgm:prSet/>
      <dgm:spPr/>
      <dgm:t>
        <a:bodyPr/>
        <a:lstStyle/>
        <a:p>
          <a:endParaRPr lang="en-GB"/>
        </a:p>
      </dgm:t>
    </dgm:pt>
    <dgm:pt modelId="{186E8A52-79E4-4ECD-A03D-DF8309BC889E}">
      <dgm:prSet phldrT="[Text]"/>
      <dgm:spPr/>
      <dgm:t>
        <a:bodyPr/>
        <a:lstStyle/>
        <a:p>
          <a:r>
            <a:rPr lang="en-US" dirty="0" smtClean="0"/>
            <a:t>Background workers for processing (thumbnails, transcoding, notifications)</a:t>
          </a:r>
          <a:endParaRPr lang="en-GB" dirty="0"/>
        </a:p>
      </dgm:t>
    </dgm:pt>
    <dgm:pt modelId="{A11FEECD-A907-40A8-BD20-1112CFF6D38C}" type="parTrans" cxnId="{1D341777-FB54-4478-A7CD-F70CE958D590}">
      <dgm:prSet/>
      <dgm:spPr/>
      <dgm:t>
        <a:bodyPr/>
        <a:lstStyle/>
        <a:p>
          <a:endParaRPr lang="en-GB"/>
        </a:p>
      </dgm:t>
    </dgm:pt>
    <dgm:pt modelId="{083BD10D-AB22-4130-86DF-863C0DF73D19}" type="sibTrans" cxnId="{1D341777-FB54-4478-A7CD-F70CE958D590}">
      <dgm:prSet/>
      <dgm:spPr/>
      <dgm:t>
        <a:bodyPr/>
        <a:lstStyle/>
        <a:p>
          <a:endParaRPr lang="en-GB"/>
        </a:p>
      </dgm:t>
    </dgm:pt>
    <dgm:pt modelId="{EC97E4E4-AC88-4E1B-892A-3EBB405D2098}" type="pres">
      <dgm:prSet presAssocID="{32B2ADC5-B797-4065-A978-8DBA3575F65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D95BC00-E88C-4A65-884E-104C49582B05}" type="pres">
      <dgm:prSet presAssocID="{6A92C29C-BA30-443A-9C28-680E7B534EFD}" presName="compositeNode" presStyleCnt="0">
        <dgm:presLayoutVars>
          <dgm:bulletEnabled val="1"/>
        </dgm:presLayoutVars>
      </dgm:prSet>
      <dgm:spPr/>
    </dgm:pt>
    <dgm:pt modelId="{32E127C1-0F24-41FE-A2DA-7AA9828E6C53}" type="pres">
      <dgm:prSet presAssocID="{6A92C29C-BA30-443A-9C28-680E7B534EFD}" presName="bgRect" presStyleLbl="node1" presStyleIdx="0" presStyleCnt="3" custScaleX="96385"/>
      <dgm:spPr/>
      <dgm:t>
        <a:bodyPr/>
        <a:lstStyle/>
        <a:p>
          <a:endParaRPr lang="en-GB"/>
        </a:p>
      </dgm:t>
    </dgm:pt>
    <dgm:pt modelId="{F533FD7C-E0C5-42B4-8BF7-A0A596B1EC1E}" type="pres">
      <dgm:prSet presAssocID="{6A92C29C-BA30-443A-9C28-680E7B534EFD}" presName="parentNode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A7792BB-F3D1-4C97-80D2-CC05CFE273B5}" type="pres">
      <dgm:prSet presAssocID="{6A92C29C-BA30-443A-9C28-680E7B534EFD}" presName="child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389E91A-A3D3-4DD9-864B-574B35DC2268}" type="pres">
      <dgm:prSet presAssocID="{A26B7E16-0F92-49D5-B176-7E6CED9AF8AE}" presName="hSp" presStyleCnt="0"/>
      <dgm:spPr/>
    </dgm:pt>
    <dgm:pt modelId="{76471B39-E2C7-45DD-B9B6-09D8304175E8}" type="pres">
      <dgm:prSet presAssocID="{A26B7E16-0F92-49D5-B176-7E6CED9AF8AE}" presName="vProcSp" presStyleCnt="0"/>
      <dgm:spPr/>
    </dgm:pt>
    <dgm:pt modelId="{3A7AA259-E0A3-45FC-A830-FC7AF08E981C}" type="pres">
      <dgm:prSet presAssocID="{A26B7E16-0F92-49D5-B176-7E6CED9AF8AE}" presName="vSp1" presStyleCnt="0"/>
      <dgm:spPr/>
    </dgm:pt>
    <dgm:pt modelId="{FB70F087-8C99-4541-A57C-36653C89328E}" type="pres">
      <dgm:prSet presAssocID="{A26B7E16-0F92-49D5-B176-7E6CED9AF8AE}" presName="simulatedConn" presStyleLbl="solidFgAcc1" presStyleIdx="0" presStyleCnt="2"/>
      <dgm:spPr>
        <a:ln>
          <a:solidFill>
            <a:srgbClr val="FF0000"/>
          </a:solidFill>
        </a:ln>
      </dgm:spPr>
    </dgm:pt>
    <dgm:pt modelId="{DA6C58F3-9734-4278-B14B-454A8DD7EF38}" type="pres">
      <dgm:prSet presAssocID="{A26B7E16-0F92-49D5-B176-7E6CED9AF8AE}" presName="vSp2" presStyleCnt="0"/>
      <dgm:spPr/>
    </dgm:pt>
    <dgm:pt modelId="{260A8108-9B35-43FB-A5B9-AD7139E76602}" type="pres">
      <dgm:prSet presAssocID="{A26B7E16-0F92-49D5-B176-7E6CED9AF8AE}" presName="sibTrans" presStyleCnt="0"/>
      <dgm:spPr/>
    </dgm:pt>
    <dgm:pt modelId="{6720B5F1-96F0-4664-A1D8-AECA598D6133}" type="pres">
      <dgm:prSet presAssocID="{5C6DA1BD-8862-4F74-B483-01103D82FF72}" presName="compositeNode" presStyleCnt="0">
        <dgm:presLayoutVars>
          <dgm:bulletEnabled val="1"/>
        </dgm:presLayoutVars>
      </dgm:prSet>
      <dgm:spPr/>
    </dgm:pt>
    <dgm:pt modelId="{6225B022-B826-44CF-B9F9-C26F2F6F653D}" type="pres">
      <dgm:prSet presAssocID="{5C6DA1BD-8862-4F74-B483-01103D82FF72}" presName="bgRect" presStyleLbl="node1" presStyleIdx="1" presStyleCnt="3"/>
      <dgm:spPr/>
      <dgm:t>
        <a:bodyPr/>
        <a:lstStyle/>
        <a:p>
          <a:endParaRPr lang="en-GB"/>
        </a:p>
      </dgm:t>
    </dgm:pt>
    <dgm:pt modelId="{64B0FB79-3306-4419-BE01-0216912F87B0}" type="pres">
      <dgm:prSet presAssocID="{5C6DA1BD-8862-4F74-B483-01103D82FF72}" presName="parentNode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6361FCC-AB94-4EF4-AC13-E0A10A43FFC9}" type="pres">
      <dgm:prSet presAssocID="{5C6DA1BD-8862-4F74-B483-01103D82FF72}" presName="child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CED42C3-0A3A-41FF-8ADA-9845B17FCC0D}" type="pres">
      <dgm:prSet presAssocID="{8786EB24-D56D-41D1-B9B4-1CF8B3E1F686}" presName="hSp" presStyleCnt="0"/>
      <dgm:spPr/>
    </dgm:pt>
    <dgm:pt modelId="{C950C7D3-1265-442F-87D6-F81AF54ECB6B}" type="pres">
      <dgm:prSet presAssocID="{8786EB24-D56D-41D1-B9B4-1CF8B3E1F686}" presName="vProcSp" presStyleCnt="0"/>
      <dgm:spPr/>
    </dgm:pt>
    <dgm:pt modelId="{9CB420E5-EE0B-4015-9787-8517C8AB938A}" type="pres">
      <dgm:prSet presAssocID="{8786EB24-D56D-41D1-B9B4-1CF8B3E1F686}" presName="vSp1" presStyleCnt="0"/>
      <dgm:spPr/>
    </dgm:pt>
    <dgm:pt modelId="{C4669D69-871F-41D1-B267-1CF579B631FF}" type="pres">
      <dgm:prSet presAssocID="{8786EB24-D56D-41D1-B9B4-1CF8B3E1F686}" presName="simulatedConn" presStyleLbl="solidFgAcc1" presStyleIdx="1" presStyleCnt="2"/>
      <dgm:spPr>
        <a:ln>
          <a:solidFill>
            <a:srgbClr val="FF0000"/>
          </a:solidFill>
        </a:ln>
      </dgm:spPr>
    </dgm:pt>
    <dgm:pt modelId="{20667EF5-BCF8-46AC-9162-B13679CEBEF5}" type="pres">
      <dgm:prSet presAssocID="{8786EB24-D56D-41D1-B9B4-1CF8B3E1F686}" presName="vSp2" presStyleCnt="0"/>
      <dgm:spPr/>
    </dgm:pt>
    <dgm:pt modelId="{252EA03D-A12A-48B8-8681-E4BDFECEF07F}" type="pres">
      <dgm:prSet presAssocID="{8786EB24-D56D-41D1-B9B4-1CF8B3E1F686}" presName="sibTrans" presStyleCnt="0"/>
      <dgm:spPr/>
    </dgm:pt>
    <dgm:pt modelId="{131926B7-7905-473F-9194-8A01FEC2F798}" type="pres">
      <dgm:prSet presAssocID="{24D2BFD8-964C-4B04-A449-EB52E4481351}" presName="compositeNode" presStyleCnt="0">
        <dgm:presLayoutVars>
          <dgm:bulletEnabled val="1"/>
        </dgm:presLayoutVars>
      </dgm:prSet>
      <dgm:spPr/>
    </dgm:pt>
    <dgm:pt modelId="{8BCB388F-A957-4E5C-B731-F3551867B9DF}" type="pres">
      <dgm:prSet presAssocID="{24D2BFD8-964C-4B04-A449-EB52E4481351}" presName="bgRect" presStyleLbl="node1" presStyleIdx="2" presStyleCnt="3"/>
      <dgm:spPr/>
      <dgm:t>
        <a:bodyPr/>
        <a:lstStyle/>
        <a:p>
          <a:endParaRPr lang="en-GB"/>
        </a:p>
      </dgm:t>
    </dgm:pt>
    <dgm:pt modelId="{8FEFF6A8-59F5-441E-8F70-252F19F1CA63}" type="pres">
      <dgm:prSet presAssocID="{24D2BFD8-964C-4B04-A449-EB52E4481351}" presName="parentNode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5E3C7E3-284F-416B-B854-FB0FFEDD94DF}" type="pres">
      <dgm:prSet presAssocID="{24D2BFD8-964C-4B04-A449-EB52E4481351}" presName="child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49DFC887-FDE9-41D3-9308-B8D2B9383692}" type="presOf" srcId="{5C6DA1BD-8862-4F74-B483-01103D82FF72}" destId="{6225B022-B826-44CF-B9F9-C26F2F6F653D}" srcOrd="0" destOrd="0" presId="urn:microsoft.com/office/officeart/2005/8/layout/hProcess7"/>
    <dgm:cxn modelId="{038EFDDF-80FB-48D9-8A3C-6FC87552EE92}" type="presOf" srcId="{32B2ADC5-B797-4065-A978-8DBA3575F65E}" destId="{EC97E4E4-AC88-4E1B-892A-3EBB405D2098}" srcOrd="0" destOrd="0" presId="urn:microsoft.com/office/officeart/2005/8/layout/hProcess7"/>
    <dgm:cxn modelId="{1D341777-FB54-4478-A7CD-F70CE958D590}" srcId="{24D2BFD8-964C-4B04-A449-EB52E4481351}" destId="{186E8A52-79E4-4ECD-A03D-DF8309BC889E}" srcOrd="0" destOrd="0" parTransId="{A11FEECD-A907-40A8-BD20-1112CFF6D38C}" sibTransId="{083BD10D-AB22-4130-86DF-863C0DF73D19}"/>
    <dgm:cxn modelId="{2DDFF93D-0F4E-497B-BE7A-D0680AF9D5CA}" type="presOf" srcId="{24D2BFD8-964C-4B04-A449-EB52E4481351}" destId="{8BCB388F-A957-4E5C-B731-F3551867B9DF}" srcOrd="0" destOrd="0" presId="urn:microsoft.com/office/officeart/2005/8/layout/hProcess7"/>
    <dgm:cxn modelId="{D9F2B6F0-4BFA-4DEF-8092-EAC69B845B52}" type="presOf" srcId="{24D2BFD8-964C-4B04-A449-EB52E4481351}" destId="{8FEFF6A8-59F5-441E-8F70-252F19F1CA63}" srcOrd="1" destOrd="0" presId="urn:microsoft.com/office/officeart/2005/8/layout/hProcess7"/>
    <dgm:cxn modelId="{5C21A2D1-9FCB-4FC2-8BF9-83C5ACFDBCC2}" srcId="{6A92C29C-BA30-443A-9C28-680E7B534EFD}" destId="{5EC22D2D-0C7E-4260-8DF7-2C4F54C8C0C5}" srcOrd="0" destOrd="0" parTransId="{8D91AC8C-8340-42C3-9E89-FE74CBE36804}" sibTransId="{63427288-DB11-4CAA-975E-394393ADF79C}"/>
    <dgm:cxn modelId="{B93B438F-0680-443F-8874-6335AD01BC3F}" type="presOf" srcId="{6A92C29C-BA30-443A-9C28-680E7B534EFD}" destId="{32E127C1-0F24-41FE-A2DA-7AA9828E6C53}" srcOrd="0" destOrd="0" presId="urn:microsoft.com/office/officeart/2005/8/layout/hProcess7"/>
    <dgm:cxn modelId="{1D79813F-EB44-4826-8B20-20078AB76656}" type="presOf" srcId="{5EC22D2D-0C7E-4260-8DF7-2C4F54C8C0C5}" destId="{2A7792BB-F3D1-4C97-80D2-CC05CFE273B5}" srcOrd="0" destOrd="0" presId="urn:microsoft.com/office/officeart/2005/8/layout/hProcess7"/>
    <dgm:cxn modelId="{A2FF9E85-E9AC-4575-9CEA-C5390F050072}" type="presOf" srcId="{2E96B23B-6C8B-41D2-B46A-1BD44F0B63D2}" destId="{76361FCC-AB94-4EF4-AC13-E0A10A43FFC9}" srcOrd="0" destOrd="0" presId="urn:microsoft.com/office/officeart/2005/8/layout/hProcess7"/>
    <dgm:cxn modelId="{A72CC8F4-4F19-4CE9-A63F-A1EA430E0963}" srcId="{5C6DA1BD-8862-4F74-B483-01103D82FF72}" destId="{2E96B23B-6C8B-41D2-B46A-1BD44F0B63D2}" srcOrd="0" destOrd="0" parTransId="{917A65CD-6994-4D9A-A73F-50ABC2E2B0DD}" sibTransId="{15D3504E-0596-496C-A821-879A005EFCA8}"/>
    <dgm:cxn modelId="{ADF5F02A-E522-41AB-96DC-42E05F0A6C14}" type="presOf" srcId="{6A92C29C-BA30-443A-9C28-680E7B534EFD}" destId="{F533FD7C-E0C5-42B4-8BF7-A0A596B1EC1E}" srcOrd="1" destOrd="0" presId="urn:microsoft.com/office/officeart/2005/8/layout/hProcess7"/>
    <dgm:cxn modelId="{28425BAC-2AFD-4A37-807A-FF4712B1BA65}" srcId="{32B2ADC5-B797-4065-A978-8DBA3575F65E}" destId="{24D2BFD8-964C-4B04-A449-EB52E4481351}" srcOrd="2" destOrd="0" parTransId="{F2EFE525-DACF-4ABC-A773-DC8A773A1A85}" sibTransId="{97C60865-48A3-4BCA-B376-41BEE7F6BD0F}"/>
    <dgm:cxn modelId="{0D2B7843-489F-44B1-A841-AB1E21F3E9D1}" type="presOf" srcId="{5C6DA1BD-8862-4F74-B483-01103D82FF72}" destId="{64B0FB79-3306-4419-BE01-0216912F87B0}" srcOrd="1" destOrd="0" presId="urn:microsoft.com/office/officeart/2005/8/layout/hProcess7"/>
    <dgm:cxn modelId="{EB091E29-7BC7-47A7-90D8-2775D6DD0233}" srcId="{32B2ADC5-B797-4065-A978-8DBA3575F65E}" destId="{6A92C29C-BA30-443A-9C28-680E7B534EFD}" srcOrd="0" destOrd="0" parTransId="{69BF7C2D-C89F-465C-912C-19C972ACDC4D}" sibTransId="{A26B7E16-0F92-49D5-B176-7E6CED9AF8AE}"/>
    <dgm:cxn modelId="{3AFE2BA8-5899-4D10-8F6D-25B4A06699B6}" srcId="{32B2ADC5-B797-4065-A978-8DBA3575F65E}" destId="{5C6DA1BD-8862-4F74-B483-01103D82FF72}" srcOrd="1" destOrd="0" parTransId="{80465FC2-7E1C-4FA8-A5A2-23BD5BDDF659}" sibTransId="{8786EB24-D56D-41D1-B9B4-1CF8B3E1F686}"/>
    <dgm:cxn modelId="{8112B46C-CE61-4DA8-8815-EDAB2457ABB3}" type="presOf" srcId="{186E8A52-79E4-4ECD-A03D-DF8309BC889E}" destId="{85E3C7E3-284F-416B-B854-FB0FFEDD94DF}" srcOrd="0" destOrd="0" presId="urn:microsoft.com/office/officeart/2005/8/layout/hProcess7"/>
    <dgm:cxn modelId="{4A20A059-E7E1-4E45-845E-7502E8D62069}" type="presParOf" srcId="{EC97E4E4-AC88-4E1B-892A-3EBB405D2098}" destId="{ED95BC00-E88C-4A65-884E-104C49582B05}" srcOrd="0" destOrd="0" presId="urn:microsoft.com/office/officeart/2005/8/layout/hProcess7"/>
    <dgm:cxn modelId="{A53E5982-950C-4985-98ED-40371489F6D2}" type="presParOf" srcId="{ED95BC00-E88C-4A65-884E-104C49582B05}" destId="{32E127C1-0F24-41FE-A2DA-7AA9828E6C53}" srcOrd="0" destOrd="0" presId="urn:microsoft.com/office/officeart/2005/8/layout/hProcess7"/>
    <dgm:cxn modelId="{0CD3DD39-AA5D-49AA-8CA5-8662750C0E99}" type="presParOf" srcId="{ED95BC00-E88C-4A65-884E-104C49582B05}" destId="{F533FD7C-E0C5-42B4-8BF7-A0A596B1EC1E}" srcOrd="1" destOrd="0" presId="urn:microsoft.com/office/officeart/2005/8/layout/hProcess7"/>
    <dgm:cxn modelId="{0165C69C-AC9B-42CE-AB91-C499783F0E26}" type="presParOf" srcId="{ED95BC00-E88C-4A65-884E-104C49582B05}" destId="{2A7792BB-F3D1-4C97-80D2-CC05CFE273B5}" srcOrd="2" destOrd="0" presId="urn:microsoft.com/office/officeart/2005/8/layout/hProcess7"/>
    <dgm:cxn modelId="{048A8427-21C7-40EE-8DCF-D5F471A7B722}" type="presParOf" srcId="{EC97E4E4-AC88-4E1B-892A-3EBB405D2098}" destId="{8389E91A-A3D3-4DD9-864B-574B35DC2268}" srcOrd="1" destOrd="0" presId="urn:microsoft.com/office/officeart/2005/8/layout/hProcess7"/>
    <dgm:cxn modelId="{CBB3CDDC-359C-4AFE-BCFA-109B841F1F08}" type="presParOf" srcId="{EC97E4E4-AC88-4E1B-892A-3EBB405D2098}" destId="{76471B39-E2C7-45DD-B9B6-09D8304175E8}" srcOrd="2" destOrd="0" presId="urn:microsoft.com/office/officeart/2005/8/layout/hProcess7"/>
    <dgm:cxn modelId="{F2475A27-A950-44E0-A78E-29AB9ABDEBA7}" type="presParOf" srcId="{76471B39-E2C7-45DD-B9B6-09D8304175E8}" destId="{3A7AA259-E0A3-45FC-A830-FC7AF08E981C}" srcOrd="0" destOrd="0" presId="urn:microsoft.com/office/officeart/2005/8/layout/hProcess7"/>
    <dgm:cxn modelId="{EDE6EF58-AFF6-41CB-88A4-7F0E539FA8BE}" type="presParOf" srcId="{76471B39-E2C7-45DD-B9B6-09D8304175E8}" destId="{FB70F087-8C99-4541-A57C-36653C89328E}" srcOrd="1" destOrd="0" presId="urn:microsoft.com/office/officeart/2005/8/layout/hProcess7"/>
    <dgm:cxn modelId="{23F37DFE-6265-4823-8BE9-9CCC608F9F1D}" type="presParOf" srcId="{76471B39-E2C7-45DD-B9B6-09D8304175E8}" destId="{DA6C58F3-9734-4278-B14B-454A8DD7EF38}" srcOrd="2" destOrd="0" presId="urn:microsoft.com/office/officeart/2005/8/layout/hProcess7"/>
    <dgm:cxn modelId="{46062D13-FBE0-4B9F-8BEC-1F1A2892ADB3}" type="presParOf" srcId="{EC97E4E4-AC88-4E1B-892A-3EBB405D2098}" destId="{260A8108-9B35-43FB-A5B9-AD7139E76602}" srcOrd="3" destOrd="0" presId="urn:microsoft.com/office/officeart/2005/8/layout/hProcess7"/>
    <dgm:cxn modelId="{E28376A2-FFBB-40DF-AD90-4B67299984F3}" type="presParOf" srcId="{EC97E4E4-AC88-4E1B-892A-3EBB405D2098}" destId="{6720B5F1-96F0-4664-A1D8-AECA598D6133}" srcOrd="4" destOrd="0" presId="urn:microsoft.com/office/officeart/2005/8/layout/hProcess7"/>
    <dgm:cxn modelId="{99BA385B-8197-4695-BD05-848EADC7731B}" type="presParOf" srcId="{6720B5F1-96F0-4664-A1D8-AECA598D6133}" destId="{6225B022-B826-44CF-B9F9-C26F2F6F653D}" srcOrd="0" destOrd="0" presId="urn:microsoft.com/office/officeart/2005/8/layout/hProcess7"/>
    <dgm:cxn modelId="{F4CB6B92-8CE7-49BC-95FD-6506202A52F4}" type="presParOf" srcId="{6720B5F1-96F0-4664-A1D8-AECA598D6133}" destId="{64B0FB79-3306-4419-BE01-0216912F87B0}" srcOrd="1" destOrd="0" presId="urn:microsoft.com/office/officeart/2005/8/layout/hProcess7"/>
    <dgm:cxn modelId="{B35B7874-5E7E-4113-88ED-EFB7C46EF888}" type="presParOf" srcId="{6720B5F1-96F0-4664-A1D8-AECA598D6133}" destId="{76361FCC-AB94-4EF4-AC13-E0A10A43FFC9}" srcOrd="2" destOrd="0" presId="urn:microsoft.com/office/officeart/2005/8/layout/hProcess7"/>
    <dgm:cxn modelId="{F3879979-A2CC-4647-9FB0-54F0188BFCAF}" type="presParOf" srcId="{EC97E4E4-AC88-4E1B-892A-3EBB405D2098}" destId="{4CED42C3-0A3A-41FF-8ADA-9845B17FCC0D}" srcOrd="5" destOrd="0" presId="urn:microsoft.com/office/officeart/2005/8/layout/hProcess7"/>
    <dgm:cxn modelId="{8A8EF6F4-FCB1-46E9-8DD8-F77D6333ECCE}" type="presParOf" srcId="{EC97E4E4-AC88-4E1B-892A-3EBB405D2098}" destId="{C950C7D3-1265-442F-87D6-F81AF54ECB6B}" srcOrd="6" destOrd="0" presId="urn:microsoft.com/office/officeart/2005/8/layout/hProcess7"/>
    <dgm:cxn modelId="{AC0A8294-A414-4103-B3E0-8558C039DE24}" type="presParOf" srcId="{C950C7D3-1265-442F-87D6-F81AF54ECB6B}" destId="{9CB420E5-EE0B-4015-9787-8517C8AB938A}" srcOrd="0" destOrd="0" presId="urn:microsoft.com/office/officeart/2005/8/layout/hProcess7"/>
    <dgm:cxn modelId="{7229B5FB-B414-4094-BC5B-5CDF078FDA06}" type="presParOf" srcId="{C950C7D3-1265-442F-87D6-F81AF54ECB6B}" destId="{C4669D69-871F-41D1-B267-1CF579B631FF}" srcOrd="1" destOrd="0" presId="urn:microsoft.com/office/officeart/2005/8/layout/hProcess7"/>
    <dgm:cxn modelId="{8630C8D2-E0BF-4A12-B03A-0B47D113DE88}" type="presParOf" srcId="{C950C7D3-1265-442F-87D6-F81AF54ECB6B}" destId="{20667EF5-BCF8-46AC-9162-B13679CEBEF5}" srcOrd="2" destOrd="0" presId="urn:microsoft.com/office/officeart/2005/8/layout/hProcess7"/>
    <dgm:cxn modelId="{E3F65E20-6284-444B-ACF4-7315EF3AAF77}" type="presParOf" srcId="{EC97E4E4-AC88-4E1B-892A-3EBB405D2098}" destId="{252EA03D-A12A-48B8-8681-E4BDFECEF07F}" srcOrd="7" destOrd="0" presId="urn:microsoft.com/office/officeart/2005/8/layout/hProcess7"/>
    <dgm:cxn modelId="{D50FB404-B897-45F7-9B2C-2FE2C39A606D}" type="presParOf" srcId="{EC97E4E4-AC88-4E1B-892A-3EBB405D2098}" destId="{131926B7-7905-473F-9194-8A01FEC2F798}" srcOrd="8" destOrd="0" presId="urn:microsoft.com/office/officeart/2005/8/layout/hProcess7"/>
    <dgm:cxn modelId="{DE5F4B87-9373-4E3A-8D89-2F9E140B9C7D}" type="presParOf" srcId="{131926B7-7905-473F-9194-8A01FEC2F798}" destId="{8BCB388F-A957-4E5C-B731-F3551867B9DF}" srcOrd="0" destOrd="0" presId="urn:microsoft.com/office/officeart/2005/8/layout/hProcess7"/>
    <dgm:cxn modelId="{72A8AEB7-CBBE-4DCD-AF49-8AC2D1A76DEE}" type="presParOf" srcId="{131926B7-7905-473F-9194-8A01FEC2F798}" destId="{8FEFF6A8-59F5-441E-8F70-252F19F1CA63}" srcOrd="1" destOrd="0" presId="urn:microsoft.com/office/officeart/2005/8/layout/hProcess7"/>
    <dgm:cxn modelId="{7BF189CA-7200-4CC7-B208-E3C35E5F25B8}" type="presParOf" srcId="{131926B7-7905-473F-9194-8A01FEC2F798}" destId="{85E3C7E3-284F-416B-B854-FB0FFEDD94DF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1BD4EF-E30A-4CA4-A9D5-DC2AB9B9718C}" type="doc">
      <dgm:prSet loTypeId="urn:microsoft.com/office/officeart/2005/8/layout/default" loCatId="list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GB"/>
        </a:p>
      </dgm:t>
    </dgm:pt>
    <dgm:pt modelId="{2E2630ED-75C6-422E-B384-D634ED26EA6E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Per-user template variants (templates2) and dark-only default</a:t>
          </a:r>
          <a:endParaRPr lang="en-GB" dirty="0">
            <a:solidFill>
              <a:schemeClr val="tx1"/>
            </a:solidFill>
          </a:endParaRPr>
        </a:p>
      </dgm:t>
    </dgm:pt>
    <dgm:pt modelId="{E20194A6-5886-4D05-892E-1387A24D34B2}" type="parTrans" cxnId="{0891FBBC-9083-4F32-9D15-6A23DDE22B04}">
      <dgm:prSet/>
      <dgm:spPr/>
      <dgm:t>
        <a:bodyPr/>
        <a:lstStyle/>
        <a:p>
          <a:endParaRPr lang="en-GB"/>
        </a:p>
      </dgm:t>
    </dgm:pt>
    <dgm:pt modelId="{99239C2A-90C3-4624-B57E-A3E8554A12C7}" type="sibTrans" cxnId="{0891FBBC-9083-4F32-9D15-6A23DDE22B04}">
      <dgm:prSet/>
      <dgm:spPr/>
      <dgm:t>
        <a:bodyPr/>
        <a:lstStyle/>
        <a:p>
          <a:endParaRPr lang="en-GB"/>
        </a:p>
      </dgm:t>
    </dgm:pt>
    <dgm:pt modelId="{8E0413AF-3028-4117-9DAB-B5FD2A87B07E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Numeric rating (1-10) and share counts implemented in server and templates</a:t>
          </a:r>
          <a:endParaRPr lang="en-GB" dirty="0">
            <a:solidFill>
              <a:schemeClr val="tx1"/>
            </a:solidFill>
          </a:endParaRPr>
        </a:p>
      </dgm:t>
    </dgm:pt>
    <dgm:pt modelId="{15626756-17E1-4436-A1F4-6154BAB7FD18}" type="parTrans" cxnId="{A935F351-2932-4E8D-B9A5-E7A530CB0D3D}">
      <dgm:prSet/>
      <dgm:spPr/>
      <dgm:t>
        <a:bodyPr/>
        <a:lstStyle/>
        <a:p>
          <a:endParaRPr lang="en-GB"/>
        </a:p>
      </dgm:t>
    </dgm:pt>
    <dgm:pt modelId="{0C2441F1-8CCE-4923-9460-87771C02291F}" type="sibTrans" cxnId="{A935F351-2932-4E8D-B9A5-E7A530CB0D3D}">
      <dgm:prSet/>
      <dgm:spPr/>
      <dgm:t>
        <a:bodyPr/>
        <a:lstStyle/>
        <a:p>
          <a:endParaRPr lang="en-GB"/>
        </a:p>
      </dgm:t>
    </dgm:pt>
    <dgm:pt modelId="{1870301D-55A8-4755-807A-F0CCE8D248D9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Nested comments and comment likes implemented server-side and rendered in templates</a:t>
          </a:r>
          <a:endParaRPr lang="en-GB" dirty="0">
            <a:solidFill>
              <a:schemeClr val="tx1"/>
            </a:solidFill>
          </a:endParaRPr>
        </a:p>
      </dgm:t>
    </dgm:pt>
    <dgm:pt modelId="{144E11BD-561B-41E5-AD82-8DD3B7417623}" type="parTrans" cxnId="{CFA4D2DA-7B37-4ACE-A5E2-63BEB91D6E30}">
      <dgm:prSet/>
      <dgm:spPr/>
      <dgm:t>
        <a:bodyPr/>
        <a:lstStyle/>
        <a:p>
          <a:endParaRPr lang="en-GB"/>
        </a:p>
      </dgm:t>
    </dgm:pt>
    <dgm:pt modelId="{ABB621F7-57FD-4728-A27E-B982DF9D2E39}" type="sibTrans" cxnId="{CFA4D2DA-7B37-4ACE-A5E2-63BEB91D6E30}">
      <dgm:prSet/>
      <dgm:spPr/>
      <dgm:t>
        <a:bodyPr/>
        <a:lstStyle/>
        <a:p>
          <a:endParaRPr lang="en-GB"/>
        </a:p>
      </dgm:t>
    </dgm:pt>
    <dgm:pt modelId="{1C83DBE9-C021-4470-B25E-2B279A85B0EC}" type="pres">
      <dgm:prSet presAssocID="{1E1BD4EF-E30A-4CA4-A9D5-DC2AB9B9718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CEB2FD71-456D-4A65-AE4B-659531837F0F}" type="pres">
      <dgm:prSet presAssocID="{2E2630ED-75C6-422E-B384-D634ED26EA6E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27A75C6-7556-4BEC-8616-F3EB02DCD9DE}" type="pres">
      <dgm:prSet presAssocID="{99239C2A-90C3-4624-B57E-A3E8554A12C7}" presName="sibTrans" presStyleCnt="0"/>
      <dgm:spPr/>
      <dgm:t>
        <a:bodyPr/>
        <a:lstStyle/>
        <a:p>
          <a:endParaRPr lang="en-GB"/>
        </a:p>
      </dgm:t>
    </dgm:pt>
    <dgm:pt modelId="{AF99E85F-3F1D-4F7F-851E-220C69ACFB98}" type="pres">
      <dgm:prSet presAssocID="{8E0413AF-3028-4117-9DAB-B5FD2A87B07E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4DDA939-89E9-4891-8F97-0B90609E543C}" type="pres">
      <dgm:prSet presAssocID="{0C2441F1-8CCE-4923-9460-87771C02291F}" presName="sibTrans" presStyleCnt="0"/>
      <dgm:spPr/>
      <dgm:t>
        <a:bodyPr/>
        <a:lstStyle/>
        <a:p>
          <a:endParaRPr lang="en-GB"/>
        </a:p>
      </dgm:t>
    </dgm:pt>
    <dgm:pt modelId="{9C16D981-BF02-45D1-87A4-45C42199F49F}" type="pres">
      <dgm:prSet presAssocID="{1870301D-55A8-4755-807A-F0CCE8D248D9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C511632E-5D91-4463-97DE-4535EC8383F2}" type="presOf" srcId="{2E2630ED-75C6-422E-B384-D634ED26EA6E}" destId="{CEB2FD71-456D-4A65-AE4B-659531837F0F}" srcOrd="0" destOrd="0" presId="urn:microsoft.com/office/officeart/2005/8/layout/default"/>
    <dgm:cxn modelId="{7E123F84-0020-4597-AB25-7CE3E3DF3D97}" type="presOf" srcId="{1870301D-55A8-4755-807A-F0CCE8D248D9}" destId="{9C16D981-BF02-45D1-87A4-45C42199F49F}" srcOrd="0" destOrd="0" presId="urn:microsoft.com/office/officeart/2005/8/layout/default"/>
    <dgm:cxn modelId="{A935F351-2932-4E8D-B9A5-E7A530CB0D3D}" srcId="{1E1BD4EF-E30A-4CA4-A9D5-DC2AB9B9718C}" destId="{8E0413AF-3028-4117-9DAB-B5FD2A87B07E}" srcOrd="1" destOrd="0" parTransId="{15626756-17E1-4436-A1F4-6154BAB7FD18}" sibTransId="{0C2441F1-8CCE-4923-9460-87771C02291F}"/>
    <dgm:cxn modelId="{CFA4D2DA-7B37-4ACE-A5E2-63BEB91D6E30}" srcId="{1E1BD4EF-E30A-4CA4-A9D5-DC2AB9B9718C}" destId="{1870301D-55A8-4755-807A-F0CCE8D248D9}" srcOrd="2" destOrd="0" parTransId="{144E11BD-561B-41E5-AD82-8DD3B7417623}" sibTransId="{ABB621F7-57FD-4728-A27E-B982DF9D2E39}"/>
    <dgm:cxn modelId="{8D33F294-B340-4ACF-A98D-1F043EAD764F}" type="presOf" srcId="{8E0413AF-3028-4117-9DAB-B5FD2A87B07E}" destId="{AF99E85F-3F1D-4F7F-851E-220C69ACFB98}" srcOrd="0" destOrd="0" presId="urn:microsoft.com/office/officeart/2005/8/layout/default"/>
    <dgm:cxn modelId="{0891FBBC-9083-4F32-9D15-6A23DDE22B04}" srcId="{1E1BD4EF-E30A-4CA4-A9D5-DC2AB9B9718C}" destId="{2E2630ED-75C6-422E-B384-D634ED26EA6E}" srcOrd="0" destOrd="0" parTransId="{E20194A6-5886-4D05-892E-1387A24D34B2}" sibTransId="{99239C2A-90C3-4624-B57E-A3E8554A12C7}"/>
    <dgm:cxn modelId="{41DADA15-7DF4-4A89-9752-54AC06B30728}" type="presOf" srcId="{1E1BD4EF-E30A-4CA4-A9D5-DC2AB9B9718C}" destId="{1C83DBE9-C021-4470-B25E-2B279A85B0EC}" srcOrd="0" destOrd="0" presId="urn:microsoft.com/office/officeart/2005/8/layout/default"/>
    <dgm:cxn modelId="{80B55228-D25B-4587-8A61-6A3953FCB15C}" type="presParOf" srcId="{1C83DBE9-C021-4470-B25E-2B279A85B0EC}" destId="{CEB2FD71-456D-4A65-AE4B-659531837F0F}" srcOrd="0" destOrd="0" presId="urn:microsoft.com/office/officeart/2005/8/layout/default"/>
    <dgm:cxn modelId="{AF8591D1-3ED9-471C-A5A4-F10970375776}" type="presParOf" srcId="{1C83DBE9-C021-4470-B25E-2B279A85B0EC}" destId="{427A75C6-7556-4BEC-8616-F3EB02DCD9DE}" srcOrd="1" destOrd="0" presId="urn:microsoft.com/office/officeart/2005/8/layout/default"/>
    <dgm:cxn modelId="{AD7E2953-0C3B-46D2-9691-5CDA5AA359CA}" type="presParOf" srcId="{1C83DBE9-C021-4470-B25E-2B279A85B0EC}" destId="{AF99E85F-3F1D-4F7F-851E-220C69ACFB98}" srcOrd="2" destOrd="0" presId="urn:microsoft.com/office/officeart/2005/8/layout/default"/>
    <dgm:cxn modelId="{46FB631B-7AF5-411E-9673-8561EF89B2E2}" type="presParOf" srcId="{1C83DBE9-C021-4470-B25E-2B279A85B0EC}" destId="{A4DDA939-89E9-4891-8F97-0B90609E543C}" srcOrd="3" destOrd="0" presId="urn:microsoft.com/office/officeart/2005/8/layout/default"/>
    <dgm:cxn modelId="{68B203AF-B837-41EA-8B6E-F3FE83AB7C73}" type="presParOf" srcId="{1C83DBE9-C021-4470-B25E-2B279A85B0EC}" destId="{9C16D981-BF02-45D1-87A4-45C42199F49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0BFDF0-A487-4028-A6AE-64FDBE5A4479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DD6CF439-7774-4B44-8A08-DB01D5A7F62E}">
      <dgm:prSet phldrT="[Text]"/>
      <dgm:spPr>
        <a:solidFill>
          <a:srgbClr val="800000"/>
        </a:solidFill>
      </dgm:spPr>
      <dgm:t>
        <a:bodyPr/>
        <a:lstStyle/>
        <a:p>
          <a:r>
            <a:rPr lang="en-GB" dirty="0" smtClean="0">
              <a:solidFill>
                <a:schemeClr val="bg1"/>
              </a:solidFill>
            </a:rPr>
            <a:t>Per-user UI variants: two visual variants supported via '</a:t>
          </a:r>
          <a:r>
            <a:rPr lang="en-GB" dirty="0" err="1" smtClean="0">
              <a:solidFill>
                <a:schemeClr val="bg1"/>
              </a:solidFill>
            </a:rPr>
            <a:t>users.ui_variant</a:t>
          </a:r>
          <a:r>
            <a:rPr lang="en-GB" dirty="0" smtClean="0">
              <a:solidFill>
                <a:schemeClr val="bg1"/>
              </a:solidFill>
            </a:rPr>
            <a:t>‘</a:t>
          </a:r>
          <a:endParaRPr lang="en-GB" dirty="0"/>
        </a:p>
      </dgm:t>
    </dgm:pt>
    <dgm:pt modelId="{95A393DC-1DEF-43A5-BF79-72DBED923E28}" type="parTrans" cxnId="{8AB40D8E-EE57-44A5-941A-4FCDC719093E}">
      <dgm:prSet/>
      <dgm:spPr/>
      <dgm:t>
        <a:bodyPr/>
        <a:lstStyle/>
        <a:p>
          <a:endParaRPr lang="en-GB"/>
        </a:p>
      </dgm:t>
    </dgm:pt>
    <dgm:pt modelId="{A10216A1-3814-4F09-A95A-D96E9A2299A3}" type="sibTrans" cxnId="{8AB40D8E-EE57-44A5-941A-4FCDC719093E}">
      <dgm:prSet/>
      <dgm:spPr/>
      <dgm:t>
        <a:bodyPr/>
        <a:lstStyle/>
        <a:p>
          <a:endParaRPr lang="en-GB"/>
        </a:p>
      </dgm:t>
    </dgm:pt>
    <dgm:pt modelId="{1DA10C15-5801-4F91-8C5D-FAB9A6756184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 smtClean="0">
              <a:solidFill>
                <a:schemeClr val="bg1"/>
              </a:solidFill>
            </a:rPr>
            <a:t>Share count tracking with server-side increment and client updates</a:t>
          </a:r>
          <a:endParaRPr lang="en-GB" dirty="0"/>
        </a:p>
      </dgm:t>
    </dgm:pt>
    <dgm:pt modelId="{EEBA3779-E2F5-4D62-8CB9-39C75BFA32BB}" type="parTrans" cxnId="{E0807B9A-4C1C-4ED6-8C1A-1D6E946C94C0}">
      <dgm:prSet/>
      <dgm:spPr/>
      <dgm:t>
        <a:bodyPr/>
        <a:lstStyle/>
        <a:p>
          <a:endParaRPr lang="en-GB"/>
        </a:p>
      </dgm:t>
    </dgm:pt>
    <dgm:pt modelId="{99E4AF08-E177-48D2-9A88-CF89E0053D8C}" type="sibTrans" cxnId="{E0807B9A-4C1C-4ED6-8C1A-1D6E946C94C0}">
      <dgm:prSet/>
      <dgm:spPr/>
      <dgm:t>
        <a:bodyPr/>
        <a:lstStyle/>
        <a:p>
          <a:endParaRPr lang="en-GB"/>
        </a:p>
      </dgm:t>
    </dgm:pt>
    <dgm:pt modelId="{EC46152D-734E-4DD4-B6D7-08C5CEDCF2BA}">
      <dgm:prSet phldrT="[Text]"/>
      <dgm:spPr>
        <a:solidFill>
          <a:srgbClr val="800000"/>
        </a:solidFill>
      </dgm:spPr>
      <dgm:t>
        <a:bodyPr/>
        <a:lstStyle/>
        <a:p>
          <a:r>
            <a:rPr lang="en-US" dirty="0" smtClean="0">
              <a:solidFill>
                <a:schemeClr val="bg1"/>
              </a:solidFill>
            </a:rPr>
            <a:t>Creator pages showing creator posts grid and share controls</a:t>
          </a:r>
          <a:endParaRPr lang="en-GB" dirty="0"/>
        </a:p>
      </dgm:t>
    </dgm:pt>
    <dgm:pt modelId="{981FD295-CEDC-42A4-85FC-98F34B224522}" type="parTrans" cxnId="{24C3C855-AD0C-4E2E-A5C6-08E70D5AC27D}">
      <dgm:prSet/>
      <dgm:spPr/>
      <dgm:t>
        <a:bodyPr/>
        <a:lstStyle/>
        <a:p>
          <a:endParaRPr lang="en-GB"/>
        </a:p>
      </dgm:t>
    </dgm:pt>
    <dgm:pt modelId="{A34D617A-D6E7-4FD4-8AE6-60AD08E91F7D}" type="sibTrans" cxnId="{24C3C855-AD0C-4E2E-A5C6-08E70D5AC27D}">
      <dgm:prSet/>
      <dgm:spPr/>
      <dgm:t>
        <a:bodyPr/>
        <a:lstStyle/>
        <a:p>
          <a:endParaRPr lang="en-GB"/>
        </a:p>
      </dgm:t>
    </dgm:pt>
    <dgm:pt modelId="{85243EC7-7BF0-41C9-8968-2B62AEF7D2C3}" type="pres">
      <dgm:prSet presAssocID="{310BFDF0-A487-4028-A6AE-64FDBE5A4479}" presName="linearFlow" presStyleCnt="0">
        <dgm:presLayoutVars>
          <dgm:dir/>
          <dgm:resizeHandles val="exact"/>
        </dgm:presLayoutVars>
      </dgm:prSet>
      <dgm:spPr/>
    </dgm:pt>
    <dgm:pt modelId="{F6987AF7-3356-4A04-A95F-C9C01574B8F1}" type="pres">
      <dgm:prSet presAssocID="{DD6CF439-7774-4B44-8A08-DB01D5A7F62E}" presName="composite" presStyleCnt="0"/>
      <dgm:spPr/>
    </dgm:pt>
    <dgm:pt modelId="{58851A96-F0E8-491B-9322-9462D1AA16CD}" type="pres">
      <dgm:prSet presAssocID="{DD6CF439-7774-4B44-8A08-DB01D5A7F62E}" presName="imgShp" presStyleLbl="fgImgPlace1" presStyleIdx="0" presStyleCnt="3"/>
      <dgm:spPr>
        <a:solidFill>
          <a:schemeClr val="tx1"/>
        </a:solidFill>
      </dgm:spPr>
    </dgm:pt>
    <dgm:pt modelId="{633DCA01-5394-4005-8F16-44527245896D}" type="pres">
      <dgm:prSet presAssocID="{DD6CF439-7774-4B44-8A08-DB01D5A7F62E}" presName="txShp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B4792BF-AD8C-4106-84DD-958F7691927E}" type="pres">
      <dgm:prSet presAssocID="{A10216A1-3814-4F09-A95A-D96E9A2299A3}" presName="spacing" presStyleCnt="0"/>
      <dgm:spPr/>
    </dgm:pt>
    <dgm:pt modelId="{4409078E-F2FF-4CA9-B83E-E958BBFBD77F}" type="pres">
      <dgm:prSet presAssocID="{1DA10C15-5801-4F91-8C5D-FAB9A6756184}" presName="composite" presStyleCnt="0"/>
      <dgm:spPr/>
    </dgm:pt>
    <dgm:pt modelId="{BAA9AD7E-406F-4DE7-BD1E-8EAB5ECF5FB9}" type="pres">
      <dgm:prSet presAssocID="{1DA10C15-5801-4F91-8C5D-FAB9A6756184}" presName="imgShp" presStyleLbl="fgImgPlace1" presStyleIdx="1" presStyleCnt="3"/>
      <dgm:spPr>
        <a:solidFill>
          <a:schemeClr val="tx1"/>
        </a:solidFill>
      </dgm:spPr>
    </dgm:pt>
    <dgm:pt modelId="{8DA8E3E1-4C9E-46F6-808E-91D8C1CBE3F6}" type="pres">
      <dgm:prSet presAssocID="{1DA10C15-5801-4F91-8C5D-FAB9A6756184}" presName="tx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4D58C78-C2C7-4FDC-B8D9-44B8250D893A}" type="pres">
      <dgm:prSet presAssocID="{99E4AF08-E177-48D2-9A88-CF89E0053D8C}" presName="spacing" presStyleCnt="0"/>
      <dgm:spPr/>
    </dgm:pt>
    <dgm:pt modelId="{314A4E1B-5B44-4BC5-9138-20CD4B0DAF1D}" type="pres">
      <dgm:prSet presAssocID="{EC46152D-734E-4DD4-B6D7-08C5CEDCF2BA}" presName="composite" presStyleCnt="0"/>
      <dgm:spPr/>
    </dgm:pt>
    <dgm:pt modelId="{06C5902F-2648-4290-8747-E9B55970DCA2}" type="pres">
      <dgm:prSet presAssocID="{EC46152D-734E-4DD4-B6D7-08C5CEDCF2BA}" presName="imgShp" presStyleLbl="fgImgPlace1" presStyleIdx="2" presStyleCnt="3"/>
      <dgm:spPr>
        <a:solidFill>
          <a:schemeClr val="tx1"/>
        </a:solidFill>
      </dgm:spPr>
    </dgm:pt>
    <dgm:pt modelId="{41603934-3B5C-41EB-A027-D8A3666A9A49}" type="pres">
      <dgm:prSet presAssocID="{EC46152D-734E-4DD4-B6D7-08C5CEDCF2BA}" presName="tx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C22F4AE1-AC77-4D27-8AF4-A2A8E3D7297D}" type="presOf" srcId="{EC46152D-734E-4DD4-B6D7-08C5CEDCF2BA}" destId="{41603934-3B5C-41EB-A027-D8A3666A9A49}" srcOrd="0" destOrd="0" presId="urn:microsoft.com/office/officeart/2005/8/layout/vList3"/>
    <dgm:cxn modelId="{E0807B9A-4C1C-4ED6-8C1A-1D6E946C94C0}" srcId="{310BFDF0-A487-4028-A6AE-64FDBE5A4479}" destId="{1DA10C15-5801-4F91-8C5D-FAB9A6756184}" srcOrd="1" destOrd="0" parTransId="{EEBA3779-E2F5-4D62-8CB9-39C75BFA32BB}" sibTransId="{99E4AF08-E177-48D2-9A88-CF89E0053D8C}"/>
    <dgm:cxn modelId="{24C3C855-AD0C-4E2E-A5C6-08E70D5AC27D}" srcId="{310BFDF0-A487-4028-A6AE-64FDBE5A4479}" destId="{EC46152D-734E-4DD4-B6D7-08C5CEDCF2BA}" srcOrd="2" destOrd="0" parTransId="{981FD295-CEDC-42A4-85FC-98F34B224522}" sibTransId="{A34D617A-D6E7-4FD4-8AE6-60AD08E91F7D}"/>
    <dgm:cxn modelId="{280DEA6A-F1AD-481C-8611-E8DCCC6B5D42}" type="presOf" srcId="{DD6CF439-7774-4B44-8A08-DB01D5A7F62E}" destId="{633DCA01-5394-4005-8F16-44527245896D}" srcOrd="0" destOrd="0" presId="urn:microsoft.com/office/officeart/2005/8/layout/vList3"/>
    <dgm:cxn modelId="{394B8034-9C15-4B19-BA80-B5EB97187A56}" type="presOf" srcId="{1DA10C15-5801-4F91-8C5D-FAB9A6756184}" destId="{8DA8E3E1-4C9E-46F6-808E-91D8C1CBE3F6}" srcOrd="0" destOrd="0" presId="urn:microsoft.com/office/officeart/2005/8/layout/vList3"/>
    <dgm:cxn modelId="{8AB40D8E-EE57-44A5-941A-4FCDC719093E}" srcId="{310BFDF0-A487-4028-A6AE-64FDBE5A4479}" destId="{DD6CF439-7774-4B44-8A08-DB01D5A7F62E}" srcOrd="0" destOrd="0" parTransId="{95A393DC-1DEF-43A5-BF79-72DBED923E28}" sibTransId="{A10216A1-3814-4F09-A95A-D96E9A2299A3}"/>
    <dgm:cxn modelId="{6B1ACCFA-1921-463C-B324-214FA531DDFD}" type="presOf" srcId="{310BFDF0-A487-4028-A6AE-64FDBE5A4479}" destId="{85243EC7-7BF0-41C9-8968-2B62AEF7D2C3}" srcOrd="0" destOrd="0" presId="urn:microsoft.com/office/officeart/2005/8/layout/vList3"/>
    <dgm:cxn modelId="{CA895EDA-34BE-40B4-A403-AF291D41AB07}" type="presParOf" srcId="{85243EC7-7BF0-41C9-8968-2B62AEF7D2C3}" destId="{F6987AF7-3356-4A04-A95F-C9C01574B8F1}" srcOrd="0" destOrd="0" presId="urn:microsoft.com/office/officeart/2005/8/layout/vList3"/>
    <dgm:cxn modelId="{A788DEFD-0D32-4CCF-899C-909D4D87C5FB}" type="presParOf" srcId="{F6987AF7-3356-4A04-A95F-C9C01574B8F1}" destId="{58851A96-F0E8-491B-9322-9462D1AA16CD}" srcOrd="0" destOrd="0" presId="urn:microsoft.com/office/officeart/2005/8/layout/vList3"/>
    <dgm:cxn modelId="{F3AB5D17-5933-4B40-B49D-82B337B1CAAA}" type="presParOf" srcId="{F6987AF7-3356-4A04-A95F-C9C01574B8F1}" destId="{633DCA01-5394-4005-8F16-44527245896D}" srcOrd="1" destOrd="0" presId="urn:microsoft.com/office/officeart/2005/8/layout/vList3"/>
    <dgm:cxn modelId="{0F4B4466-255A-4591-ABEF-61DEC26F325E}" type="presParOf" srcId="{85243EC7-7BF0-41C9-8968-2B62AEF7D2C3}" destId="{AB4792BF-AD8C-4106-84DD-958F7691927E}" srcOrd="1" destOrd="0" presId="urn:microsoft.com/office/officeart/2005/8/layout/vList3"/>
    <dgm:cxn modelId="{0FFA0FFF-1CE3-4E1F-BD83-FDA122FF35D5}" type="presParOf" srcId="{85243EC7-7BF0-41C9-8968-2B62AEF7D2C3}" destId="{4409078E-F2FF-4CA9-B83E-E958BBFBD77F}" srcOrd="2" destOrd="0" presId="urn:microsoft.com/office/officeart/2005/8/layout/vList3"/>
    <dgm:cxn modelId="{69CDB5E4-9119-4FB3-8762-20860FC60E34}" type="presParOf" srcId="{4409078E-F2FF-4CA9-B83E-E958BBFBD77F}" destId="{BAA9AD7E-406F-4DE7-BD1E-8EAB5ECF5FB9}" srcOrd="0" destOrd="0" presId="urn:microsoft.com/office/officeart/2005/8/layout/vList3"/>
    <dgm:cxn modelId="{B60A5C0E-7647-405B-A71F-EAF071F02DFF}" type="presParOf" srcId="{4409078E-F2FF-4CA9-B83E-E958BBFBD77F}" destId="{8DA8E3E1-4C9E-46F6-808E-91D8C1CBE3F6}" srcOrd="1" destOrd="0" presId="urn:microsoft.com/office/officeart/2005/8/layout/vList3"/>
    <dgm:cxn modelId="{97DD3E72-049A-4BD8-A7A6-87FE6B490C2D}" type="presParOf" srcId="{85243EC7-7BF0-41C9-8968-2B62AEF7D2C3}" destId="{A4D58C78-C2C7-4FDC-B8D9-44B8250D893A}" srcOrd="3" destOrd="0" presId="urn:microsoft.com/office/officeart/2005/8/layout/vList3"/>
    <dgm:cxn modelId="{DFBA8F11-102F-4033-ADB1-8E2BD1E6CE65}" type="presParOf" srcId="{85243EC7-7BF0-41C9-8968-2B62AEF7D2C3}" destId="{314A4E1B-5B44-4BC5-9138-20CD4B0DAF1D}" srcOrd="4" destOrd="0" presId="urn:microsoft.com/office/officeart/2005/8/layout/vList3"/>
    <dgm:cxn modelId="{66233CC1-3033-4D76-9A7E-83EF0B70AD72}" type="presParOf" srcId="{314A4E1B-5B44-4BC5-9138-20CD4B0DAF1D}" destId="{06C5902F-2648-4290-8747-E9B55970DCA2}" srcOrd="0" destOrd="0" presId="urn:microsoft.com/office/officeart/2005/8/layout/vList3"/>
    <dgm:cxn modelId="{4870BCEA-48BE-422F-A59C-8907B8C3D20F}" type="presParOf" srcId="{314A4E1B-5B44-4BC5-9138-20CD4B0DAF1D}" destId="{41603934-3B5C-41EB-A027-D8A3666A9A4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E127C1-0F24-41FE-A2DA-7AA9828E6C53}">
      <dsp:nvSpPr>
        <dsp:cNvPr id="0" name=""/>
        <dsp:cNvSpPr/>
      </dsp:nvSpPr>
      <dsp:spPr>
        <a:xfrm>
          <a:off x="354" y="487439"/>
          <a:ext cx="3052450" cy="3800321"/>
        </a:xfrm>
        <a:prstGeom prst="roundRect">
          <a:avLst>
            <a:gd name="adj" fmla="val 5000"/>
          </a:avLst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20015" rIns="155575" bIns="0" numCol="1" spcCol="1270" anchor="t" anchorCtr="0">
          <a:noAutofit/>
        </a:bodyPr>
        <a:lstStyle/>
        <a:p>
          <a:pPr lvl="0" algn="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3500" kern="1200" dirty="0">
            <a:solidFill>
              <a:srgbClr val="FF0000"/>
            </a:solidFill>
          </a:endParaRPr>
        </a:p>
      </dsp:txBody>
      <dsp:txXfrm rot="16200000">
        <a:off x="-1252532" y="1740326"/>
        <a:ext cx="3116263" cy="610490"/>
      </dsp:txXfrm>
    </dsp:sp>
    <dsp:sp modelId="{2A7792BB-F3D1-4C97-80D2-CC05CFE273B5}">
      <dsp:nvSpPr>
        <dsp:cNvPr id="0" name=""/>
        <dsp:cNvSpPr/>
      </dsp:nvSpPr>
      <dsp:spPr>
        <a:xfrm>
          <a:off x="619144" y="487439"/>
          <a:ext cx="2274075" cy="3800321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23444" rIns="0" bIns="0" numCol="1" spcCol="1270" anchor="t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Stateless Flask app instances behind a load balancer</a:t>
          </a:r>
          <a:endParaRPr lang="en-GB" sz="3600" kern="1200" dirty="0"/>
        </a:p>
      </dsp:txBody>
      <dsp:txXfrm>
        <a:off x="619144" y="487439"/>
        <a:ext cx="2274075" cy="3800321"/>
      </dsp:txXfrm>
    </dsp:sp>
    <dsp:sp modelId="{6225B022-B826-44CF-B9F9-C26F2F6F653D}">
      <dsp:nvSpPr>
        <dsp:cNvPr id="0" name=""/>
        <dsp:cNvSpPr/>
      </dsp:nvSpPr>
      <dsp:spPr>
        <a:xfrm>
          <a:off x="3163647" y="487439"/>
          <a:ext cx="3166934" cy="3800321"/>
        </a:xfrm>
        <a:prstGeom prst="roundRect">
          <a:avLst>
            <a:gd name="adj" fmla="val 5000"/>
          </a:avLst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23444" rIns="160020" bIns="0" numCol="1" spcCol="1270" anchor="t" anchorCtr="0">
          <a:noAutofit/>
        </a:bodyPr>
        <a:lstStyle/>
        <a:p>
          <a:pPr lvl="0" algn="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3600" kern="1200" dirty="0"/>
        </a:p>
      </dsp:txBody>
      <dsp:txXfrm rot="16200000">
        <a:off x="1922209" y="1728877"/>
        <a:ext cx="3116263" cy="633386"/>
      </dsp:txXfrm>
    </dsp:sp>
    <dsp:sp modelId="{FB70F087-8C99-4541-A57C-36653C89328E}">
      <dsp:nvSpPr>
        <dsp:cNvPr id="0" name=""/>
        <dsp:cNvSpPr/>
      </dsp:nvSpPr>
      <dsp:spPr>
        <a:xfrm rot="5400000">
          <a:off x="2900260" y="3507507"/>
          <a:ext cx="558443" cy="475040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361FCC-AB94-4EF4-AC13-E0A10A43FFC9}">
      <dsp:nvSpPr>
        <dsp:cNvPr id="0" name=""/>
        <dsp:cNvSpPr/>
      </dsp:nvSpPr>
      <dsp:spPr>
        <a:xfrm>
          <a:off x="3797034" y="487439"/>
          <a:ext cx="2359366" cy="3800321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16586" rIns="0" bIns="0" numCol="1" spcCol="1270" anchor="t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Offload media to object storage (Blob/S3) and serve via CDN</a:t>
          </a:r>
          <a:endParaRPr lang="en-GB" sz="3400" kern="1200" dirty="0"/>
        </a:p>
      </dsp:txBody>
      <dsp:txXfrm>
        <a:off x="3797034" y="487439"/>
        <a:ext cx="2359366" cy="3800321"/>
      </dsp:txXfrm>
    </dsp:sp>
    <dsp:sp modelId="{8BCB388F-A957-4E5C-B731-F3551867B9DF}">
      <dsp:nvSpPr>
        <dsp:cNvPr id="0" name=""/>
        <dsp:cNvSpPr/>
      </dsp:nvSpPr>
      <dsp:spPr>
        <a:xfrm>
          <a:off x="6441425" y="487439"/>
          <a:ext cx="3166934" cy="3800321"/>
        </a:xfrm>
        <a:prstGeom prst="roundRect">
          <a:avLst>
            <a:gd name="adj" fmla="val 5000"/>
          </a:avLst>
        </a:prstGeom>
        <a:solidFill>
          <a:srgbClr val="8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23444" rIns="160020" bIns="0" numCol="1" spcCol="1270" anchor="t" anchorCtr="0">
          <a:noAutofit/>
        </a:bodyPr>
        <a:lstStyle/>
        <a:p>
          <a:pPr lvl="0" algn="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3600" kern="1200" dirty="0"/>
        </a:p>
      </dsp:txBody>
      <dsp:txXfrm rot="16200000">
        <a:off x="5199986" y="1728877"/>
        <a:ext cx="3116263" cy="633386"/>
      </dsp:txXfrm>
    </dsp:sp>
    <dsp:sp modelId="{C4669D69-871F-41D1-B267-1CF579B631FF}">
      <dsp:nvSpPr>
        <dsp:cNvPr id="0" name=""/>
        <dsp:cNvSpPr/>
      </dsp:nvSpPr>
      <dsp:spPr>
        <a:xfrm rot="5400000">
          <a:off x="6178038" y="3507507"/>
          <a:ext cx="558443" cy="475040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E3C7E3-284F-416B-B854-FB0FFEDD94DF}">
      <dsp:nvSpPr>
        <dsp:cNvPr id="0" name=""/>
        <dsp:cNvSpPr/>
      </dsp:nvSpPr>
      <dsp:spPr>
        <a:xfrm>
          <a:off x="7074812" y="487439"/>
          <a:ext cx="2359366" cy="3800321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16586" rIns="0" bIns="0" numCol="1" spcCol="1270" anchor="t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Background workers for processing (thumbnails, transcoding, notifications)</a:t>
          </a:r>
          <a:endParaRPr lang="en-GB" sz="3400" kern="1200" dirty="0"/>
        </a:p>
      </dsp:txBody>
      <dsp:txXfrm>
        <a:off x="7074812" y="487439"/>
        <a:ext cx="2359366" cy="38003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3DCA01-5394-4005-8F16-44527245896D}">
      <dsp:nvSpPr>
        <dsp:cNvPr id="0" name=""/>
        <dsp:cNvSpPr/>
      </dsp:nvSpPr>
      <dsp:spPr>
        <a:xfrm rot="10800000">
          <a:off x="2423554" y="1132"/>
          <a:ext cx="8127693" cy="1505412"/>
        </a:xfrm>
        <a:prstGeom prst="homePlate">
          <a:avLst/>
        </a:prstGeom>
        <a:solidFill>
          <a:srgbClr val="8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3845" tIns="125730" rIns="234696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300" kern="1200" dirty="0" smtClean="0">
              <a:solidFill>
                <a:schemeClr val="bg1"/>
              </a:solidFill>
            </a:rPr>
            <a:t>Per-user UI variants: two visual variants supported via '</a:t>
          </a:r>
          <a:r>
            <a:rPr lang="en-GB" sz="3300" kern="1200" dirty="0" err="1" smtClean="0">
              <a:solidFill>
                <a:schemeClr val="bg1"/>
              </a:solidFill>
            </a:rPr>
            <a:t>users.ui_variant</a:t>
          </a:r>
          <a:r>
            <a:rPr lang="en-GB" sz="3300" kern="1200" dirty="0" smtClean="0">
              <a:solidFill>
                <a:schemeClr val="bg1"/>
              </a:solidFill>
            </a:rPr>
            <a:t>‘</a:t>
          </a:r>
          <a:endParaRPr lang="en-GB" sz="3300" kern="1200" dirty="0"/>
        </a:p>
      </dsp:txBody>
      <dsp:txXfrm rot="10800000">
        <a:off x="2799907" y="1132"/>
        <a:ext cx="7751340" cy="1505412"/>
      </dsp:txXfrm>
    </dsp:sp>
    <dsp:sp modelId="{58851A96-F0E8-491B-9322-9462D1AA16CD}">
      <dsp:nvSpPr>
        <dsp:cNvPr id="0" name=""/>
        <dsp:cNvSpPr/>
      </dsp:nvSpPr>
      <dsp:spPr>
        <a:xfrm>
          <a:off x="1670847" y="1132"/>
          <a:ext cx="1505412" cy="1505412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A8E3E1-4C9E-46F6-808E-91D8C1CBE3F6}">
      <dsp:nvSpPr>
        <dsp:cNvPr id="0" name=""/>
        <dsp:cNvSpPr/>
      </dsp:nvSpPr>
      <dsp:spPr>
        <a:xfrm rot="10800000">
          <a:off x="2423554" y="1955921"/>
          <a:ext cx="8127693" cy="1505412"/>
        </a:xfrm>
        <a:prstGeom prst="homePlate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3845" tIns="125730" rIns="234696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>
              <a:solidFill>
                <a:schemeClr val="bg1"/>
              </a:solidFill>
            </a:rPr>
            <a:t>Share count tracking with server-side increment and client updates</a:t>
          </a:r>
          <a:endParaRPr lang="en-GB" sz="3300" kern="1200" dirty="0"/>
        </a:p>
      </dsp:txBody>
      <dsp:txXfrm rot="10800000">
        <a:off x="2799907" y="1955921"/>
        <a:ext cx="7751340" cy="1505412"/>
      </dsp:txXfrm>
    </dsp:sp>
    <dsp:sp modelId="{BAA9AD7E-406F-4DE7-BD1E-8EAB5ECF5FB9}">
      <dsp:nvSpPr>
        <dsp:cNvPr id="0" name=""/>
        <dsp:cNvSpPr/>
      </dsp:nvSpPr>
      <dsp:spPr>
        <a:xfrm>
          <a:off x="1670847" y="1955921"/>
          <a:ext cx="1505412" cy="1505412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603934-3B5C-41EB-A027-D8A3666A9A49}">
      <dsp:nvSpPr>
        <dsp:cNvPr id="0" name=""/>
        <dsp:cNvSpPr/>
      </dsp:nvSpPr>
      <dsp:spPr>
        <a:xfrm rot="10800000">
          <a:off x="2423554" y="3910711"/>
          <a:ext cx="8127693" cy="1505412"/>
        </a:xfrm>
        <a:prstGeom prst="homePlate">
          <a:avLst/>
        </a:prstGeom>
        <a:solidFill>
          <a:srgbClr val="8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3845" tIns="125730" rIns="234696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>
              <a:solidFill>
                <a:schemeClr val="bg1"/>
              </a:solidFill>
            </a:rPr>
            <a:t>Creator pages showing creator posts grid and share controls</a:t>
          </a:r>
          <a:endParaRPr lang="en-GB" sz="3300" kern="1200" dirty="0"/>
        </a:p>
      </dsp:txBody>
      <dsp:txXfrm rot="10800000">
        <a:off x="2799907" y="3910711"/>
        <a:ext cx="7751340" cy="1505412"/>
      </dsp:txXfrm>
    </dsp:sp>
    <dsp:sp modelId="{06C5902F-2648-4290-8747-E9B55970DCA2}">
      <dsp:nvSpPr>
        <dsp:cNvPr id="0" name=""/>
        <dsp:cNvSpPr/>
      </dsp:nvSpPr>
      <dsp:spPr>
        <a:xfrm>
          <a:off x="1670847" y="3910711"/>
          <a:ext cx="1505412" cy="1505412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azure/architecture" TargetMode="External"/><Relationship Id="rId2" Type="http://schemas.openxmlformats.org/officeDocument/2006/relationships/hyperlink" Target="https://python-pptx.readthedocs.io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flask.palletsproject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584700" y="6273800"/>
            <a:ext cx="7604125" cy="5842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  <a:softEdge rad="127000"/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3406140" y="1554252"/>
            <a:ext cx="7108484" cy="186204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1E3C"/>
                </a:solidFill>
              </a:defRPr>
            </a:pPr>
            <a:r>
              <a:rPr sz="11500" dirty="0">
                <a:ln>
                  <a:solidFill>
                    <a:schemeClr val="tx1"/>
                  </a:solidFill>
                </a:ln>
                <a:gradFill flip="none" rotWithShape="1">
                  <a:gsLst>
                    <a:gs pos="0">
                      <a:srgbClr val="FF0000">
                        <a:shade val="30000"/>
                        <a:satMod val="115000"/>
                      </a:srgbClr>
                    </a:gs>
                    <a:gs pos="50000">
                      <a:srgbClr val="FF0000">
                        <a:shade val="67500"/>
                        <a:satMod val="115000"/>
                      </a:srgbClr>
                    </a:gs>
                    <a:gs pos="100000">
                      <a:srgbClr val="FF000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</a:rPr>
              <a:t>OCONNECT</a:t>
            </a:r>
            <a:endParaRPr dirty="0">
              <a:ln>
                <a:solidFill>
                  <a:schemeClr val="tx1"/>
                </a:solidFill>
              </a:ln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72740" y="3294380"/>
            <a:ext cx="827786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rPr sz="2400" b="1" dirty="0">
                <a:solidFill>
                  <a:schemeClr val="tx1"/>
                </a:solidFill>
              </a:rPr>
              <a:t>Media sharing platform </a:t>
            </a:r>
            <a:r>
              <a:rPr sz="2400" b="1" dirty="0" smtClean="0">
                <a:solidFill>
                  <a:schemeClr val="tx1"/>
                </a:solidFill>
              </a:rPr>
              <a:t>w</a:t>
            </a:r>
            <a:r>
              <a:rPr lang="en-GB" sz="2400" b="1" dirty="0" err="1" smtClean="0">
                <a:solidFill>
                  <a:schemeClr val="tx1"/>
                </a:solidFill>
              </a:rPr>
              <a:t>th</a:t>
            </a:r>
            <a:r>
              <a:rPr lang="en-GB" sz="2400" b="1" dirty="0" smtClean="0">
                <a:solidFill>
                  <a:schemeClr val="tx1"/>
                </a:solidFill>
              </a:rPr>
              <a:t> </a:t>
            </a:r>
            <a:r>
              <a:rPr sz="2400" b="1" dirty="0" smtClean="0">
                <a:solidFill>
                  <a:schemeClr val="tx1"/>
                </a:solidFill>
              </a:rPr>
              <a:t>user </a:t>
            </a:r>
            <a:r>
              <a:rPr sz="2400" b="1" dirty="0">
                <a:solidFill>
                  <a:schemeClr val="tx1"/>
                </a:solidFill>
              </a:rPr>
              <a:t>variants</a:t>
            </a:r>
          </a:p>
        </p:txBody>
      </p:sp>
      <p:sp>
        <p:nvSpPr>
          <p:cNvPr id="7" name="Right Triangle 6"/>
          <p:cNvSpPr/>
          <p:nvPr/>
        </p:nvSpPr>
        <p:spPr>
          <a:xfrm>
            <a:off x="0" y="0"/>
            <a:ext cx="5029200" cy="6858000"/>
          </a:xfrm>
          <a:prstGeom prst="rtTriangle">
            <a:avLst/>
          </a:prstGeom>
          <a:solidFill>
            <a:srgbClr val="FF0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softEdge rad="317500"/>
          </a:effectLst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93240" y="4653280"/>
            <a:ext cx="93192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rPr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Student: </a:t>
            </a:r>
            <a:endParaRPr lang="en-GB" sz="32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00">
                <a:solidFill>
                  <a:srgbClr val="646464"/>
                </a:solidFill>
              </a:defRPr>
            </a:pPr>
            <a:r>
              <a:rPr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  <a:r>
              <a:rPr lang="en-GB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evel 4"/>
          <p:cNvSpPr/>
          <p:nvPr/>
        </p:nvSpPr>
        <p:spPr>
          <a:xfrm>
            <a:off x="12700" y="0"/>
            <a:ext cx="12188825" cy="6858000"/>
          </a:xfrm>
          <a:prstGeom prst="bevel">
            <a:avLst>
              <a:gd name="adj" fmla="val 13241"/>
            </a:avLst>
          </a:prstGeom>
          <a:gradFill flip="none" rotWithShape="1">
            <a:gsLst>
              <a:gs pos="0">
                <a:srgbClr val="800000">
                  <a:shade val="30000"/>
                  <a:satMod val="115000"/>
                </a:srgbClr>
              </a:gs>
              <a:gs pos="52000">
                <a:srgbClr val="C00000"/>
              </a:gs>
              <a:gs pos="100000">
                <a:srgbClr val="80000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4494233" y="274320"/>
            <a:ext cx="308161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1E3C"/>
                </a:solidFill>
              </a:defRPr>
            </a:pPr>
            <a:r>
              <a:rPr dirty="0">
                <a:solidFill>
                  <a:srgbClr val="FFFF00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440" y="1234440"/>
            <a:ext cx="100304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sz="1600"/>
            </a:pPr>
            <a:r>
              <a:rPr sz="2400" dirty="0">
                <a:solidFill>
                  <a:schemeClr val="bg1"/>
                </a:solidFill>
              </a:rPr>
              <a:t>Users need a reliable, low-latency platform for sharing media and </a:t>
            </a:r>
            <a:r>
              <a:rPr sz="2400" dirty="0" smtClean="0">
                <a:solidFill>
                  <a:schemeClr val="bg1"/>
                </a:solidFill>
              </a:rPr>
              <a:t>interactions</a:t>
            </a:r>
            <a:endParaRPr lang="en-GB" sz="2400" dirty="0" smtClean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1600"/>
            </a:pPr>
            <a:endParaRPr lang="en-GB" sz="2400" dirty="0" smtClean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1600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1600"/>
            </a:pPr>
            <a:endParaRPr sz="24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1600"/>
            </a:pPr>
            <a:r>
              <a:rPr sz="2400" dirty="0">
                <a:solidFill>
                  <a:schemeClr val="bg1"/>
                </a:solidFill>
              </a:rPr>
              <a:t>Requirements: availability, low latency for media, consistent notifications and </a:t>
            </a:r>
            <a:r>
              <a:rPr sz="2400" dirty="0" smtClean="0">
                <a:solidFill>
                  <a:schemeClr val="bg1"/>
                </a:solidFill>
              </a:rPr>
              <a:t>comments</a:t>
            </a:r>
            <a:endParaRPr lang="en-GB" sz="2400" dirty="0" smtClean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1600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1600"/>
            </a:pPr>
            <a:endParaRPr lang="en-GB" sz="2400" dirty="0" smtClean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1600"/>
            </a:pPr>
            <a:endParaRPr sz="24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1600"/>
            </a:pPr>
            <a:r>
              <a:rPr sz="2400" dirty="0">
                <a:solidFill>
                  <a:schemeClr val="bg1"/>
                </a:solidFill>
              </a:rPr>
              <a:t>Scalability challenges: media storage growth, DB contention, and real-time features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839819" y="274320"/>
            <a:ext cx="4300881" cy="523220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Hexagon 17"/>
          <p:cNvSpPr/>
          <p:nvPr/>
        </p:nvSpPr>
        <p:spPr>
          <a:xfrm>
            <a:off x="0" y="1117600"/>
            <a:ext cx="12188824" cy="4940300"/>
          </a:xfrm>
          <a:prstGeom prst="hexagon">
            <a:avLst/>
          </a:prstGeom>
          <a:solidFill>
            <a:srgbClr val="882A28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3839819" y="274320"/>
            <a:ext cx="42075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1E3C"/>
                </a:solidFill>
              </a:defRPr>
            </a:pPr>
            <a:r>
              <a:rPr dirty="0">
                <a:solidFill>
                  <a:srgbClr val="FFFF00"/>
                </a:solidFill>
              </a:rPr>
              <a:t>Scalability Issues Identified</a:t>
            </a:r>
          </a:p>
        </p:txBody>
      </p:sp>
      <p:sp>
        <p:nvSpPr>
          <p:cNvPr id="19" name="Hexagon 18"/>
          <p:cNvSpPr/>
          <p:nvPr/>
        </p:nvSpPr>
        <p:spPr>
          <a:xfrm>
            <a:off x="190500" y="1270000"/>
            <a:ext cx="11798300" cy="4610100"/>
          </a:xfrm>
          <a:prstGeom prst="hexagon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889000" y="2047240"/>
            <a:ext cx="109728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sz="1600"/>
            </a:pPr>
            <a:r>
              <a:rPr sz="2800" dirty="0">
                <a:solidFill>
                  <a:schemeClr val="bg1"/>
                </a:solidFill>
              </a:rPr>
              <a:t>Local file storage causes operational scaling limits and backup </a:t>
            </a:r>
            <a:r>
              <a:rPr sz="2800" dirty="0" smtClean="0">
                <a:solidFill>
                  <a:schemeClr val="bg1"/>
                </a:solidFill>
              </a:rPr>
              <a:t>complexity</a:t>
            </a:r>
            <a:endParaRPr lang="en-GB" sz="28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1600"/>
            </a:pPr>
            <a:endParaRPr sz="28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1600"/>
            </a:pPr>
            <a:r>
              <a:rPr sz="2800" dirty="0">
                <a:solidFill>
                  <a:schemeClr val="bg1"/>
                </a:solidFill>
              </a:rPr>
              <a:t>Synchronous processing of uploads and notifications creates throughput </a:t>
            </a:r>
            <a:r>
              <a:rPr sz="2800" dirty="0" smtClean="0">
                <a:solidFill>
                  <a:schemeClr val="bg1"/>
                </a:solidFill>
              </a:rPr>
              <a:t>bottlenecks</a:t>
            </a:r>
            <a:endParaRPr lang="en-GB" sz="28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1600"/>
            </a:pPr>
            <a:endParaRPr sz="28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  <a:defRPr sz="1600"/>
            </a:pPr>
            <a:r>
              <a:rPr sz="2800" dirty="0" err="1">
                <a:solidFill>
                  <a:schemeClr val="bg1"/>
                </a:solidFill>
              </a:rPr>
              <a:t>Stateful</a:t>
            </a:r>
            <a:r>
              <a:rPr sz="2800" dirty="0">
                <a:solidFill>
                  <a:schemeClr val="bg1"/>
                </a:solidFill>
              </a:rPr>
              <a:t> real-time components (if used) complicate horizontal scaling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553912" y="244404"/>
            <a:ext cx="4962256" cy="523220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3566612" y="244404"/>
            <a:ext cx="49622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1E3C"/>
                </a:solidFill>
              </a:defRPr>
            </a:pPr>
            <a:r>
              <a:rPr dirty="0">
                <a:solidFill>
                  <a:srgbClr val="FFFF00"/>
                </a:solidFill>
              </a:rPr>
              <a:t>Solution: Architecture Overview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220310171"/>
              </p:ext>
            </p:extLst>
          </p:nvPr>
        </p:nvGraphicFramePr>
        <p:xfrm>
          <a:off x="1361440" y="1282700"/>
          <a:ext cx="9608715" cy="477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entagon 5"/>
          <p:cNvSpPr/>
          <p:nvPr/>
        </p:nvSpPr>
        <p:spPr>
          <a:xfrm>
            <a:off x="0" y="0"/>
            <a:ext cx="5867400" cy="920651"/>
          </a:xfrm>
          <a:prstGeom prst="homePlate">
            <a:avLst/>
          </a:prstGeom>
          <a:solidFill>
            <a:srgbClr val="80000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457200" y="121920"/>
            <a:ext cx="489800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E3C"/>
                </a:solidFill>
              </a:defRPr>
            </a:pPr>
            <a:r>
              <a:rPr sz="3600" dirty="0">
                <a:solidFill>
                  <a:srgbClr val="FFFF00"/>
                </a:solidFill>
              </a:rPr>
              <a:t>Solution: Data &amp;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40" y="1828800"/>
            <a:ext cx="10972800" cy="4031873"/>
          </a:xfrm>
          <a:prstGeom prst="rect">
            <a:avLst/>
          </a:prstGeom>
          <a:solidFill>
            <a:srgbClr val="8000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  <a:defRPr sz="1600"/>
            </a:pPr>
            <a:r>
              <a:rPr sz="3200" dirty="0"/>
              <a:t>Primary DB (SQLite in project) for prototyping; recommend managed SQL for </a:t>
            </a:r>
            <a:r>
              <a:rPr sz="3200" dirty="0" smtClean="0"/>
              <a:t>production</a:t>
            </a:r>
            <a:endParaRPr lang="en-GB" sz="3200" dirty="0" smtClean="0"/>
          </a:p>
          <a:p>
            <a:pPr marL="285750" indent="-285750">
              <a:buFont typeface="Wingdings" panose="05000000000000000000" pitchFamily="2" charset="2"/>
              <a:buChar char="v"/>
              <a:defRPr sz="1600"/>
            </a:pPr>
            <a:endParaRPr lang="en-GB" sz="3200" dirty="0"/>
          </a:p>
          <a:p>
            <a:pPr marL="285750" indent="-285750">
              <a:buFont typeface="Wingdings" panose="05000000000000000000" pitchFamily="2" charset="2"/>
              <a:buChar char="v"/>
              <a:defRPr sz="1600"/>
            </a:pPr>
            <a:endParaRPr sz="3200" dirty="0"/>
          </a:p>
          <a:p>
            <a:pPr marL="285750" indent="-285750">
              <a:buFont typeface="Wingdings" panose="05000000000000000000" pitchFamily="2" charset="2"/>
              <a:buChar char="v"/>
              <a:defRPr sz="1600"/>
            </a:pPr>
            <a:r>
              <a:rPr sz="3200" dirty="0"/>
              <a:t>Use object storage for uploads and CDN for global </a:t>
            </a:r>
            <a:r>
              <a:rPr sz="3200" dirty="0" smtClean="0"/>
              <a:t>distribution</a:t>
            </a:r>
            <a:endParaRPr lang="en-GB" sz="3200" dirty="0" smtClean="0"/>
          </a:p>
          <a:p>
            <a:pPr marL="285750" indent="-285750">
              <a:buFont typeface="Wingdings" panose="05000000000000000000" pitchFamily="2" charset="2"/>
              <a:buChar char="v"/>
              <a:defRPr sz="1600"/>
            </a:pPr>
            <a:endParaRPr lang="en-GB" sz="3200" dirty="0"/>
          </a:p>
          <a:p>
            <a:pPr marL="285750" indent="-285750">
              <a:buFont typeface="Wingdings" panose="05000000000000000000" pitchFamily="2" charset="2"/>
              <a:buChar char="v"/>
              <a:defRPr sz="1600"/>
            </a:pPr>
            <a:endParaRPr sz="3200" dirty="0"/>
          </a:p>
          <a:p>
            <a:pPr marL="285750" indent="-285750">
              <a:buFont typeface="Wingdings" panose="05000000000000000000" pitchFamily="2" charset="2"/>
              <a:buChar char="v"/>
              <a:defRPr sz="1600"/>
            </a:pPr>
            <a:r>
              <a:rPr sz="3200" dirty="0"/>
              <a:t>Use caching (</a:t>
            </a:r>
            <a:r>
              <a:rPr sz="3200" dirty="0" err="1"/>
              <a:t>Redis</a:t>
            </a:r>
            <a:r>
              <a:rPr sz="3200" dirty="0"/>
              <a:t>) to reduce DB read pressure for hot content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553912" y="257104"/>
            <a:ext cx="4962256" cy="523220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3739338" y="274320"/>
            <a:ext cx="43831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1E3C"/>
                </a:solidFill>
              </a:defRPr>
            </a:pPr>
            <a:r>
              <a:rPr dirty="0">
                <a:solidFill>
                  <a:srgbClr val="FFFF00"/>
                </a:solidFill>
              </a:rPr>
              <a:t>Solution: UI / UX &amp; Features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59540333"/>
              </p:ext>
            </p:extLst>
          </p:nvPr>
        </p:nvGraphicFramePr>
        <p:xfrm>
          <a:off x="279400" y="1231900"/>
          <a:ext cx="11655425" cy="5245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553911" y="308799"/>
            <a:ext cx="5126449" cy="523220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444500" y="248920"/>
            <a:ext cx="11315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A1E3C"/>
                </a:solidFill>
              </a:defRPr>
            </a:pPr>
            <a:r>
              <a:rPr sz="3600" dirty="0">
                <a:solidFill>
                  <a:srgbClr val="FFFF00"/>
                </a:solidFill>
              </a:rPr>
              <a:t>Solution: Operations &amp; 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99180"/>
            <a:ext cx="10972800" cy="4616648"/>
          </a:xfrm>
          <a:prstGeom prst="rect">
            <a:avLst/>
          </a:prstGeom>
          <a:solidFill>
            <a:srgbClr val="8000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  <a:defRPr sz="1600"/>
            </a:pPr>
            <a:r>
              <a:rPr sz="2800" dirty="0">
                <a:solidFill>
                  <a:schemeClr val="bg1"/>
                </a:solidFill>
              </a:rPr>
              <a:t>Automate DB migrations and backups before deploying upgrades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  <a:defRPr sz="1600"/>
            </a:pPr>
            <a:endParaRPr lang="en-GB" sz="2800" dirty="0" smtClean="0">
              <a:solidFill>
                <a:schemeClr val="bg1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  <a:defRPr sz="1600"/>
            </a:pPr>
            <a:r>
              <a:rPr sz="2800" dirty="0" smtClean="0">
                <a:solidFill>
                  <a:schemeClr val="bg1"/>
                </a:solidFill>
              </a:rPr>
              <a:t>CI </a:t>
            </a:r>
            <a:r>
              <a:rPr sz="2800" dirty="0">
                <a:solidFill>
                  <a:schemeClr val="bg1"/>
                </a:solidFill>
              </a:rPr>
              <a:t>pipeline: run linters, tests, and package app; deploy </a:t>
            </a:r>
            <a:r>
              <a:rPr sz="2800" dirty="0" smtClean="0">
                <a:solidFill>
                  <a:schemeClr val="bg1"/>
                </a:solidFill>
              </a:rPr>
              <a:t>to</a:t>
            </a:r>
            <a:r>
              <a:rPr lang="en-GB" sz="2800" dirty="0" smtClean="0">
                <a:solidFill>
                  <a:schemeClr val="bg1"/>
                </a:solidFill>
              </a:rPr>
              <a:t> c</a:t>
            </a:r>
            <a:r>
              <a:rPr sz="2800" dirty="0" err="1" smtClean="0">
                <a:solidFill>
                  <a:schemeClr val="bg1"/>
                </a:solidFill>
              </a:rPr>
              <a:t>ontainer</a:t>
            </a:r>
            <a:r>
              <a:rPr sz="2800" dirty="0" smtClean="0">
                <a:solidFill>
                  <a:schemeClr val="bg1"/>
                </a:solidFill>
              </a:rPr>
              <a:t> </a:t>
            </a:r>
            <a:r>
              <a:rPr sz="2800" dirty="0">
                <a:solidFill>
                  <a:schemeClr val="bg1"/>
                </a:solidFill>
              </a:rPr>
              <a:t>registry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  <a:defRPr sz="1600"/>
            </a:pPr>
            <a:endParaRPr lang="en-GB" sz="2800" dirty="0" smtClean="0">
              <a:solidFill>
                <a:schemeClr val="bg1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  <a:defRPr sz="1600"/>
            </a:pPr>
            <a:r>
              <a:rPr sz="2800" dirty="0" smtClean="0">
                <a:solidFill>
                  <a:schemeClr val="bg1"/>
                </a:solidFill>
              </a:rPr>
              <a:t>Instrument </a:t>
            </a:r>
            <a:r>
              <a:rPr sz="2800" dirty="0">
                <a:solidFill>
                  <a:schemeClr val="bg1"/>
                </a:solidFill>
              </a:rPr>
              <a:t>with Application Insights / Prometheus + </a:t>
            </a:r>
            <a:r>
              <a:rPr sz="2800" dirty="0" err="1">
                <a:solidFill>
                  <a:schemeClr val="bg1"/>
                </a:solidFill>
              </a:rPr>
              <a:t>Grafana</a:t>
            </a:r>
            <a:r>
              <a:rPr sz="2800" dirty="0">
                <a:solidFill>
                  <a:schemeClr val="bg1"/>
                </a:solidFill>
              </a:rPr>
              <a:t> for </a:t>
            </a:r>
            <a:r>
              <a:rPr sz="2800" dirty="0" smtClean="0">
                <a:solidFill>
                  <a:schemeClr val="bg1"/>
                </a:solidFill>
              </a:rPr>
              <a:t>metrics</a:t>
            </a:r>
            <a:endParaRPr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553912" y="270162"/>
            <a:ext cx="4962256" cy="523220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4190684" y="274320"/>
            <a:ext cx="35058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1E3C"/>
                </a:solidFill>
              </a:defRPr>
            </a:pPr>
            <a:r>
              <a:rPr dirty="0">
                <a:solidFill>
                  <a:srgbClr val="FFFF00"/>
                </a:solidFill>
              </a:rPr>
              <a:t>Advanced Features (1)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130172534"/>
              </p:ext>
            </p:extLst>
          </p:nvPr>
        </p:nvGraphicFramePr>
        <p:xfrm>
          <a:off x="-33271" y="1145375"/>
          <a:ext cx="12222095" cy="5417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Oval 5"/>
          <p:cNvSpPr/>
          <p:nvPr/>
        </p:nvSpPr>
        <p:spPr>
          <a:xfrm>
            <a:off x="1752600" y="1244600"/>
            <a:ext cx="1270000" cy="1270000"/>
          </a:xfrm>
          <a:prstGeom prst="ellipse">
            <a:avLst/>
          </a:prstGeom>
          <a:solidFill>
            <a:srgbClr val="8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1752600" y="3213100"/>
            <a:ext cx="1270000" cy="1270000"/>
          </a:xfrm>
          <a:prstGeom prst="ellipse">
            <a:avLst/>
          </a:prstGeom>
          <a:solidFill>
            <a:srgbClr val="8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1752600" y="5181600"/>
            <a:ext cx="1270000" cy="1270000"/>
          </a:xfrm>
          <a:prstGeom prst="ellipse">
            <a:avLst/>
          </a:prstGeom>
          <a:solidFill>
            <a:srgbClr val="8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553912" y="270162"/>
            <a:ext cx="4962256" cy="523220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4190684" y="274320"/>
            <a:ext cx="35058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1E3C"/>
                </a:solidFill>
              </a:defRPr>
            </a:pPr>
            <a:r>
              <a:rPr smtClean="0">
                <a:solidFill>
                  <a:srgbClr val="FFFF00"/>
                </a:solidFill>
              </a:rPr>
              <a:t>Advanced Features (2)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7700" y="1971040"/>
            <a:ext cx="10972800" cy="3046988"/>
          </a:xfrm>
          <a:prstGeom prst="rect">
            <a:avLst/>
          </a:prstGeom>
          <a:solidFill>
            <a:srgbClr val="8000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  <a:defRPr sz="1600"/>
            </a:pPr>
            <a:r>
              <a:rPr sz="3200" dirty="0">
                <a:solidFill>
                  <a:schemeClr val="bg1"/>
                </a:solidFill>
              </a:rPr>
              <a:t>Nested, threaded comments with reply and like </a:t>
            </a:r>
            <a:r>
              <a:rPr sz="3200" dirty="0" smtClean="0">
                <a:solidFill>
                  <a:schemeClr val="bg1"/>
                </a:solidFill>
              </a:rPr>
              <a:t>toggles</a:t>
            </a:r>
            <a:endParaRPr lang="en-GB" sz="3200" dirty="0" smtClean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  <a:defRPr sz="1600"/>
            </a:pPr>
            <a:endParaRPr sz="32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  <a:defRPr sz="1600"/>
            </a:pPr>
            <a:r>
              <a:rPr sz="3200" dirty="0">
                <a:solidFill>
                  <a:schemeClr val="bg1"/>
                </a:solidFill>
              </a:rPr>
              <a:t>Rating </a:t>
            </a:r>
            <a:r>
              <a:rPr sz="3200" dirty="0" err="1">
                <a:solidFill>
                  <a:schemeClr val="bg1"/>
                </a:solidFill>
              </a:rPr>
              <a:t>upsert</a:t>
            </a:r>
            <a:r>
              <a:rPr sz="3200" dirty="0">
                <a:solidFill>
                  <a:schemeClr val="bg1"/>
                </a:solidFill>
              </a:rPr>
              <a:t> (1-10) per user per media </a:t>
            </a:r>
            <a:r>
              <a:rPr sz="3200" dirty="0" smtClean="0">
                <a:solidFill>
                  <a:schemeClr val="bg1"/>
                </a:solidFill>
              </a:rPr>
              <a:t>item</a:t>
            </a:r>
            <a:endParaRPr lang="en-GB" sz="3200" dirty="0" smtClean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  <a:defRPr sz="1600"/>
            </a:pPr>
            <a:endParaRPr sz="32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  <a:defRPr sz="1600"/>
            </a:pPr>
            <a:r>
              <a:rPr sz="3200" dirty="0">
                <a:solidFill>
                  <a:schemeClr val="bg1"/>
                </a:solidFill>
              </a:rPr>
              <a:t>Optional real-time messaging was present; project can run without Socket.IO for scaling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553912" y="270162"/>
            <a:ext cx="4962256" cy="523220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4778281" y="274320"/>
            <a:ext cx="23306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1E3C"/>
                </a:solidFill>
              </a:defRPr>
            </a:pPr>
            <a:r>
              <a:rPr dirty="0">
                <a:solidFill>
                  <a:srgbClr val="FFFF00"/>
                </a:solidFill>
              </a:rPr>
              <a:t>Limitations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958340"/>
            <a:ext cx="10972800" cy="3539430"/>
          </a:xfrm>
          <a:prstGeom prst="rect">
            <a:avLst/>
          </a:prstGeom>
          <a:solidFill>
            <a:srgbClr val="8000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  <a:defRPr sz="1600"/>
            </a:pPr>
            <a:r>
              <a:rPr sz="3200" dirty="0">
                <a:solidFill>
                  <a:schemeClr val="bg1"/>
                </a:solidFill>
              </a:rPr>
              <a:t>SQLite is suitable for prototype but not for horizontal scale; upgrade </a:t>
            </a:r>
            <a:r>
              <a:rPr sz="3200" dirty="0" smtClean="0">
                <a:solidFill>
                  <a:schemeClr val="bg1"/>
                </a:solidFill>
              </a:rPr>
              <a:t>needed</a:t>
            </a:r>
            <a:endParaRPr lang="en-GB" sz="3200" dirty="0" smtClean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  <a:defRPr sz="1600"/>
            </a:pPr>
            <a:endParaRPr sz="32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  <a:defRPr sz="1600"/>
            </a:pPr>
            <a:r>
              <a:rPr sz="3200" dirty="0">
                <a:solidFill>
                  <a:schemeClr val="bg1"/>
                </a:solidFill>
              </a:rPr>
              <a:t>Local static file storage limits scaling and regional </a:t>
            </a:r>
            <a:r>
              <a:rPr sz="3200" dirty="0" smtClean="0">
                <a:solidFill>
                  <a:schemeClr val="bg1"/>
                </a:solidFill>
              </a:rPr>
              <a:t>redundancy</a:t>
            </a:r>
            <a:endParaRPr lang="en-GB" sz="3200" dirty="0" smtClean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  <a:defRPr sz="1600"/>
            </a:pPr>
            <a:endParaRPr sz="32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  <a:defRPr sz="1600"/>
            </a:pPr>
            <a:r>
              <a:rPr sz="3200" dirty="0">
                <a:solidFill>
                  <a:schemeClr val="bg1"/>
                </a:solidFill>
              </a:rPr>
              <a:t>Embedded </a:t>
            </a:r>
            <a:r>
              <a:rPr sz="3200" dirty="0" err="1">
                <a:solidFill>
                  <a:schemeClr val="bg1"/>
                </a:solidFill>
              </a:rPr>
              <a:t>Jinja</a:t>
            </a:r>
            <a:r>
              <a:rPr sz="3200" dirty="0">
                <a:solidFill>
                  <a:schemeClr val="bg1"/>
                </a:solidFill>
              </a:rPr>
              <a:t> in JS causes maintainability and static-analysis warnings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553912" y="270162"/>
            <a:ext cx="4962256" cy="523220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4028235" y="274320"/>
            <a:ext cx="38307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1E3C"/>
                </a:solidFill>
              </a:defRPr>
            </a:pPr>
            <a:r>
              <a:rPr dirty="0">
                <a:solidFill>
                  <a:srgbClr val="FFFF00"/>
                </a:solidFill>
              </a:rPr>
              <a:t>Scalability Evaluation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53540"/>
            <a:ext cx="10972800" cy="4031873"/>
          </a:xfrm>
          <a:prstGeom prst="rect">
            <a:avLst/>
          </a:prstGeom>
          <a:solidFill>
            <a:srgbClr val="8000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  <a:defRPr sz="1600"/>
            </a:pPr>
            <a:r>
              <a:rPr sz="3200" dirty="0">
                <a:solidFill>
                  <a:schemeClr val="bg1"/>
                </a:solidFill>
              </a:rPr>
              <a:t>Stateless web tier + blob storage + CDN decouples traffic from DB </a:t>
            </a:r>
            <a:r>
              <a:rPr sz="3200" dirty="0" smtClean="0">
                <a:solidFill>
                  <a:schemeClr val="bg1"/>
                </a:solidFill>
              </a:rPr>
              <a:t>load</a:t>
            </a:r>
            <a:endParaRPr lang="en-GB" sz="3200" dirty="0" smtClean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  <a:defRPr sz="1600"/>
            </a:pPr>
            <a:endParaRPr sz="3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  <a:defRPr sz="1600"/>
            </a:pPr>
            <a:r>
              <a:rPr sz="3200" dirty="0">
                <a:solidFill>
                  <a:schemeClr val="bg1"/>
                </a:solidFill>
              </a:rPr>
              <a:t>Background workers remove synchronous bottlenecks for media </a:t>
            </a:r>
            <a:r>
              <a:rPr sz="3200" dirty="0" smtClean="0">
                <a:solidFill>
                  <a:schemeClr val="bg1"/>
                </a:solidFill>
              </a:rPr>
              <a:t>processing</a:t>
            </a:r>
            <a:endParaRPr lang="en-GB" sz="3200" dirty="0" smtClean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  <a:defRPr sz="1600"/>
            </a:pPr>
            <a:endParaRPr sz="3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  <a:defRPr sz="1600"/>
            </a:pPr>
            <a:r>
              <a:rPr sz="3200" dirty="0">
                <a:solidFill>
                  <a:schemeClr val="bg1"/>
                </a:solidFill>
              </a:rPr>
              <a:t>Database scaling requires managed SQL or NoSQL with partitioning for high traffic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553912" y="270162"/>
            <a:ext cx="4962256" cy="523220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3965591" y="274320"/>
            <a:ext cx="395601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1E3C"/>
                </a:solidFill>
              </a:defRPr>
            </a:pPr>
            <a:r>
              <a:rPr dirty="0">
                <a:solidFill>
                  <a:srgbClr val="FFFF00"/>
                </a:solidFill>
              </a:rPr>
              <a:t>Conclusions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958340"/>
            <a:ext cx="10972800" cy="3539430"/>
          </a:xfrm>
          <a:prstGeom prst="rect">
            <a:avLst/>
          </a:prstGeom>
          <a:solidFill>
            <a:srgbClr val="8000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  <a:defRPr sz="1600"/>
            </a:pPr>
            <a:r>
              <a:rPr sz="3200" dirty="0"/>
              <a:t>Migrate storage to blob storage and replace SQLite with managed SQL for </a:t>
            </a:r>
            <a:r>
              <a:rPr sz="3200" dirty="0" smtClean="0"/>
              <a:t>production</a:t>
            </a:r>
            <a:endParaRPr lang="en-GB" sz="3200" dirty="0" smtClean="0"/>
          </a:p>
          <a:p>
            <a:pPr marL="457200" indent="-457200">
              <a:buFont typeface="Wingdings" panose="05000000000000000000" pitchFamily="2" charset="2"/>
              <a:buChar char="v"/>
              <a:defRPr sz="1600"/>
            </a:pPr>
            <a:endParaRPr sz="3200" dirty="0"/>
          </a:p>
          <a:p>
            <a:pPr marL="457200" indent="-457200">
              <a:buFont typeface="Wingdings" panose="05000000000000000000" pitchFamily="2" charset="2"/>
              <a:buChar char="v"/>
              <a:defRPr sz="1600"/>
            </a:pPr>
            <a:r>
              <a:rPr sz="3200" dirty="0"/>
              <a:t>Add CI/CD and automated tests to maintain quality</a:t>
            </a:r>
          </a:p>
          <a:p>
            <a:pPr marL="457200" indent="-457200">
              <a:buFont typeface="Wingdings" panose="05000000000000000000" pitchFamily="2" charset="2"/>
              <a:buChar char="v"/>
              <a:defRPr sz="1600"/>
            </a:pPr>
            <a:endParaRPr lang="en-GB" sz="3200" dirty="0" smtClean="0"/>
          </a:p>
          <a:p>
            <a:pPr marL="457200" indent="-457200">
              <a:buFont typeface="Wingdings" panose="05000000000000000000" pitchFamily="2" charset="2"/>
              <a:buChar char="v"/>
              <a:defRPr sz="1600"/>
            </a:pPr>
            <a:r>
              <a:rPr sz="3200" dirty="0" smtClean="0"/>
              <a:t>Replace </a:t>
            </a:r>
            <a:r>
              <a:rPr sz="3200" dirty="0"/>
              <a:t>risky template-in-JS patterns and improve UX (AJAX rating, modal share)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553912" y="270162"/>
            <a:ext cx="4962256" cy="523220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5033222" y="274320"/>
            <a:ext cx="18207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1E3C"/>
                </a:solidFill>
              </a:defRPr>
            </a:pPr>
            <a:r>
              <a:rPr dirty="0">
                <a:solidFill>
                  <a:srgbClr val="FFFF00"/>
                </a:solidFill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sz="2400" dirty="0"/>
              <a:t>python-</a:t>
            </a:r>
            <a:r>
              <a:rPr sz="2400" dirty="0" err="1"/>
              <a:t>pptx</a:t>
            </a:r>
            <a:r>
              <a:rPr sz="2400" dirty="0"/>
              <a:t>: </a:t>
            </a:r>
            <a:r>
              <a:rPr sz="2400" dirty="0">
                <a:hlinkClick r:id="rId2"/>
              </a:rPr>
              <a:t>https://python-pptx.readthedocs.io</a:t>
            </a:r>
            <a:r>
              <a:rPr sz="2400" dirty="0" smtClean="0">
                <a:hlinkClick r:id="rId2"/>
              </a:rPr>
              <a:t>/</a:t>
            </a:r>
            <a:endParaRPr lang="en-GB" sz="2400" dirty="0" smtClean="0"/>
          </a:p>
          <a:p>
            <a:pPr>
              <a:defRPr sz="1600"/>
            </a:pPr>
            <a:endParaRPr sz="2400" dirty="0"/>
          </a:p>
          <a:p>
            <a:pPr>
              <a:defRPr sz="1600"/>
            </a:pPr>
            <a:r>
              <a:rPr sz="2400" dirty="0"/>
              <a:t>Azure Architecture Center: </a:t>
            </a:r>
            <a:r>
              <a:rPr sz="2400" dirty="0">
                <a:hlinkClick r:id="rId3"/>
              </a:rPr>
              <a:t>https://</a:t>
            </a:r>
            <a:r>
              <a:rPr sz="2400" dirty="0" smtClean="0">
                <a:hlinkClick r:id="rId3"/>
              </a:rPr>
              <a:t>learn.microsoft.com/azure/architecture</a:t>
            </a:r>
            <a:endParaRPr lang="en-GB" sz="2400" dirty="0" smtClean="0"/>
          </a:p>
          <a:p>
            <a:pPr>
              <a:defRPr sz="1600"/>
            </a:pPr>
            <a:endParaRPr sz="2400" dirty="0"/>
          </a:p>
          <a:p>
            <a:pPr>
              <a:defRPr sz="1600"/>
            </a:pPr>
            <a:r>
              <a:rPr sz="2400" dirty="0"/>
              <a:t>Flask docs: </a:t>
            </a:r>
            <a:r>
              <a:rPr sz="2400" dirty="0">
                <a:hlinkClick r:id="rId4"/>
              </a:rPr>
              <a:t>https://flask.palletsprojects.com</a:t>
            </a:r>
            <a:r>
              <a:rPr sz="2400" dirty="0" smtClean="0">
                <a:hlinkClick r:id="rId4"/>
              </a:rPr>
              <a:t>/</a:t>
            </a:r>
            <a:endParaRPr lang="en-GB" sz="2400" dirty="0" smtClean="0"/>
          </a:p>
          <a:p>
            <a:pPr>
              <a:defRPr sz="1600"/>
            </a:pPr>
            <a:endParaRPr lang="en-GB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6892</TotalTime>
  <Words>447</Words>
  <Application>Microsoft Office PowerPoint</Application>
  <PresentationFormat>Custom</PresentationFormat>
  <Paragraphs>76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25</cp:revision>
  <dcterms:created xsi:type="dcterms:W3CDTF">2013-01-27T09:14:16Z</dcterms:created>
  <dcterms:modified xsi:type="dcterms:W3CDTF">2025-12-16T12:44:42Z</dcterms:modified>
  <cp:category/>
</cp:coreProperties>
</file>
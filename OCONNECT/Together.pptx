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98" r:id="rId5"/>
    <p:sldId id="283" r:id="rId6"/>
    <p:sldId id="297" r:id="rId7"/>
    <p:sldId id="292" r:id="rId8"/>
    <p:sldId id="284" r:id="rId9"/>
    <p:sldId id="293" r:id="rId10"/>
    <p:sldId id="294" r:id="rId11"/>
    <p:sldId id="295" r:id="rId12"/>
    <p:sldId id="300" r:id="rId13"/>
    <p:sldId id="301" r:id="rId14"/>
    <p:sldId id="302" r:id="rId15"/>
    <p:sldId id="305" r:id="rId16"/>
    <p:sldId id="303" r:id="rId17"/>
    <p:sldId id="304" r:id="rId18"/>
    <p:sldId id="29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A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15000" autoAdjust="0"/>
    <p:restoredTop sz="93202" autoAdjust="0"/>
  </p:normalViewPr>
  <p:slideViewPr>
    <p:cSldViewPr snapToGrid="0">
      <p:cViewPr>
        <p:scale>
          <a:sx n="66" d="100"/>
          <a:sy n="66" d="100"/>
        </p:scale>
        <p:origin x="432" y="288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794696-B2BA-4739-9893-355AF6E38EF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5F7207F-5004-473D-ACF0-8BB2FBC95475}">
      <dgm:prSet custT="1"/>
      <dgm:spPr>
        <a:solidFill>
          <a:srgbClr val="7030A0"/>
        </a:solidFill>
      </dgm:spPr>
      <dgm:t>
        <a:bodyPr/>
        <a:lstStyle/>
        <a:p>
          <a:pPr rtl="0"/>
          <a:r>
            <a:rPr lang="en-GB" sz="2800" dirty="0" smtClean="0"/>
            <a:t>Single-instance deployment</a:t>
          </a:r>
          <a:endParaRPr lang="en-GB" sz="2800" dirty="0"/>
        </a:p>
      </dgm:t>
    </dgm:pt>
    <dgm:pt modelId="{60312F80-5CC7-4148-8142-25B3F1010442}" type="parTrans" cxnId="{C8261CD3-3902-4EF9-A885-AA011BFD7DAF}">
      <dgm:prSet/>
      <dgm:spPr/>
      <dgm:t>
        <a:bodyPr/>
        <a:lstStyle/>
        <a:p>
          <a:endParaRPr lang="en-GB" sz="2800"/>
        </a:p>
      </dgm:t>
    </dgm:pt>
    <dgm:pt modelId="{A0096778-F895-4887-86F2-77B12FF7E71E}" type="sibTrans" cxnId="{C8261CD3-3902-4EF9-A885-AA011BFD7DAF}">
      <dgm:prSet custT="1"/>
      <dgm:spPr/>
      <dgm:t>
        <a:bodyPr/>
        <a:lstStyle/>
        <a:p>
          <a:endParaRPr lang="en-GB" sz="2800"/>
        </a:p>
      </dgm:t>
    </dgm:pt>
    <dgm:pt modelId="{4382D046-A9B7-40C1-8E45-958795985056}">
      <dgm:prSet custT="1"/>
      <dgm:spPr>
        <a:solidFill>
          <a:schemeClr val="accent5">
            <a:lumMod val="75000"/>
            <a:lumOff val="25000"/>
          </a:schemeClr>
        </a:solidFill>
      </dgm:spPr>
      <dgm:t>
        <a:bodyPr/>
        <a:lstStyle/>
        <a:p>
          <a:pPr rtl="0"/>
          <a:r>
            <a:rPr lang="en-GB" sz="2800" dirty="0" smtClean="0"/>
            <a:t>File-based database constraints</a:t>
          </a:r>
          <a:endParaRPr lang="en-GB" sz="2800" dirty="0"/>
        </a:p>
      </dgm:t>
    </dgm:pt>
    <dgm:pt modelId="{0B97FA65-0DDC-463F-80C1-7013F605247B}" type="parTrans" cxnId="{5AA368FC-CD50-4BFD-A5A1-3236955674AD}">
      <dgm:prSet/>
      <dgm:spPr/>
      <dgm:t>
        <a:bodyPr/>
        <a:lstStyle/>
        <a:p>
          <a:endParaRPr lang="en-GB" sz="2800"/>
        </a:p>
      </dgm:t>
    </dgm:pt>
    <dgm:pt modelId="{02957F22-2535-4395-88B5-09F423F15D2C}" type="sibTrans" cxnId="{5AA368FC-CD50-4BFD-A5A1-3236955674AD}">
      <dgm:prSet custT="1"/>
      <dgm:spPr/>
      <dgm:t>
        <a:bodyPr/>
        <a:lstStyle/>
        <a:p>
          <a:endParaRPr lang="en-GB" sz="2800"/>
        </a:p>
      </dgm:t>
    </dgm:pt>
    <dgm:pt modelId="{ACC152D0-42FD-425F-8F77-91A53D42193D}">
      <dgm:prSet custT="1"/>
      <dgm:spPr>
        <a:solidFill>
          <a:schemeClr val="tx1"/>
        </a:solidFill>
      </dgm:spPr>
      <dgm:t>
        <a:bodyPr/>
        <a:lstStyle/>
        <a:p>
          <a:pPr rtl="0"/>
          <a:r>
            <a:rPr lang="en-GB" sz="2800" smtClean="0"/>
            <a:t>Lack of caching and autoscaling</a:t>
          </a:r>
          <a:endParaRPr lang="en-GB" sz="2800"/>
        </a:p>
      </dgm:t>
    </dgm:pt>
    <dgm:pt modelId="{3A127A48-F6E7-4FB4-9753-61F64574DD52}" type="parTrans" cxnId="{9BD49287-C72E-41DE-BFF9-263AB25DDF11}">
      <dgm:prSet/>
      <dgm:spPr/>
      <dgm:t>
        <a:bodyPr/>
        <a:lstStyle/>
        <a:p>
          <a:endParaRPr lang="en-GB" sz="2800"/>
        </a:p>
      </dgm:t>
    </dgm:pt>
    <dgm:pt modelId="{0542ED76-A2D7-4FD1-873E-1285FA53344B}" type="sibTrans" cxnId="{9BD49287-C72E-41DE-BFF9-263AB25DDF11}">
      <dgm:prSet custT="1"/>
      <dgm:spPr/>
      <dgm:t>
        <a:bodyPr/>
        <a:lstStyle/>
        <a:p>
          <a:endParaRPr lang="en-GB" sz="2800"/>
        </a:p>
      </dgm:t>
    </dgm:pt>
    <dgm:pt modelId="{637E3A78-67C7-40EC-9C3C-8A89CA5C9B2F}" type="pres">
      <dgm:prSet presAssocID="{51794696-B2BA-4739-9893-355AF6E38EF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FBF6C235-0F55-4527-A0F1-EFE7041ADFB9}" type="pres">
      <dgm:prSet presAssocID="{05F7207F-5004-473D-ACF0-8BB2FBC95475}" presName="node" presStyleLbl="node1" presStyleIdx="0" presStyleCnt="3" custScaleX="105533" custScaleY="10553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1127D9C-5B7A-4C72-A14A-96B8C63AF14F}" type="pres">
      <dgm:prSet presAssocID="{A0096778-F895-4887-86F2-77B12FF7E71E}" presName="sibTrans" presStyleLbl="sibTrans2D1" presStyleIdx="0" presStyleCnt="3"/>
      <dgm:spPr/>
      <dgm:t>
        <a:bodyPr/>
        <a:lstStyle/>
        <a:p>
          <a:endParaRPr lang="en-GB"/>
        </a:p>
      </dgm:t>
    </dgm:pt>
    <dgm:pt modelId="{65843DCF-54EE-47B0-9D68-EABE5A9C9A19}" type="pres">
      <dgm:prSet presAssocID="{A0096778-F895-4887-86F2-77B12FF7E71E}" presName="connectorText" presStyleLbl="sibTrans2D1" presStyleIdx="0" presStyleCnt="3"/>
      <dgm:spPr/>
      <dgm:t>
        <a:bodyPr/>
        <a:lstStyle/>
        <a:p>
          <a:endParaRPr lang="en-GB"/>
        </a:p>
      </dgm:t>
    </dgm:pt>
    <dgm:pt modelId="{56F57B56-854B-4278-8352-D243A68C1313}" type="pres">
      <dgm:prSet presAssocID="{4382D046-A9B7-40C1-8E45-958795985056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12D9308-3689-4486-B779-B379B7654D17}" type="pres">
      <dgm:prSet presAssocID="{02957F22-2535-4395-88B5-09F423F15D2C}" presName="sibTrans" presStyleLbl="sibTrans2D1" presStyleIdx="1" presStyleCnt="3"/>
      <dgm:spPr/>
      <dgm:t>
        <a:bodyPr/>
        <a:lstStyle/>
        <a:p>
          <a:endParaRPr lang="en-GB"/>
        </a:p>
      </dgm:t>
    </dgm:pt>
    <dgm:pt modelId="{4CE4082A-06ED-47F9-AF4E-3AF012AC625A}" type="pres">
      <dgm:prSet presAssocID="{02957F22-2535-4395-88B5-09F423F15D2C}" presName="connectorText" presStyleLbl="sibTrans2D1" presStyleIdx="1" presStyleCnt="3"/>
      <dgm:spPr/>
      <dgm:t>
        <a:bodyPr/>
        <a:lstStyle/>
        <a:p>
          <a:endParaRPr lang="en-GB"/>
        </a:p>
      </dgm:t>
    </dgm:pt>
    <dgm:pt modelId="{42ADCA82-ECB0-4D67-9929-C38E398DDA69}" type="pres">
      <dgm:prSet presAssocID="{ACC152D0-42FD-425F-8F77-91A53D42193D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3FB74824-C300-474A-8F91-DEEA3B9FF59A}" type="pres">
      <dgm:prSet presAssocID="{0542ED76-A2D7-4FD1-873E-1285FA53344B}" presName="sibTrans" presStyleLbl="sibTrans2D1" presStyleIdx="2" presStyleCnt="3"/>
      <dgm:spPr/>
      <dgm:t>
        <a:bodyPr/>
        <a:lstStyle/>
        <a:p>
          <a:endParaRPr lang="en-GB"/>
        </a:p>
      </dgm:t>
    </dgm:pt>
    <dgm:pt modelId="{BC331D8D-916F-46B8-B322-D353809929F2}" type="pres">
      <dgm:prSet presAssocID="{0542ED76-A2D7-4FD1-873E-1285FA53344B}" presName="connectorText" presStyleLbl="sibTrans2D1" presStyleIdx="2" presStyleCnt="3"/>
      <dgm:spPr/>
      <dgm:t>
        <a:bodyPr/>
        <a:lstStyle/>
        <a:p>
          <a:endParaRPr lang="en-GB"/>
        </a:p>
      </dgm:t>
    </dgm:pt>
  </dgm:ptLst>
  <dgm:cxnLst>
    <dgm:cxn modelId="{EEF34A31-C31B-42F9-BB49-BBCC77DC649F}" type="presOf" srcId="{02957F22-2535-4395-88B5-09F423F15D2C}" destId="{4CE4082A-06ED-47F9-AF4E-3AF012AC625A}" srcOrd="1" destOrd="0" presId="urn:microsoft.com/office/officeart/2005/8/layout/cycle2"/>
    <dgm:cxn modelId="{97A25F1C-F7DA-4E4A-AA58-A72FCD0031DF}" type="presOf" srcId="{51794696-B2BA-4739-9893-355AF6E38EF6}" destId="{637E3A78-67C7-40EC-9C3C-8A89CA5C9B2F}" srcOrd="0" destOrd="0" presId="urn:microsoft.com/office/officeart/2005/8/layout/cycle2"/>
    <dgm:cxn modelId="{9BD49287-C72E-41DE-BFF9-263AB25DDF11}" srcId="{51794696-B2BA-4739-9893-355AF6E38EF6}" destId="{ACC152D0-42FD-425F-8F77-91A53D42193D}" srcOrd="2" destOrd="0" parTransId="{3A127A48-F6E7-4FB4-9753-61F64574DD52}" sibTransId="{0542ED76-A2D7-4FD1-873E-1285FA53344B}"/>
    <dgm:cxn modelId="{322120AA-EC62-405A-8111-BF934C25776C}" type="presOf" srcId="{05F7207F-5004-473D-ACF0-8BB2FBC95475}" destId="{FBF6C235-0F55-4527-A0F1-EFE7041ADFB9}" srcOrd="0" destOrd="0" presId="urn:microsoft.com/office/officeart/2005/8/layout/cycle2"/>
    <dgm:cxn modelId="{0AB95D65-AFA7-401F-902E-BB514E6533F1}" type="presOf" srcId="{A0096778-F895-4887-86F2-77B12FF7E71E}" destId="{65843DCF-54EE-47B0-9D68-EABE5A9C9A19}" srcOrd="1" destOrd="0" presId="urn:microsoft.com/office/officeart/2005/8/layout/cycle2"/>
    <dgm:cxn modelId="{5AA368FC-CD50-4BFD-A5A1-3236955674AD}" srcId="{51794696-B2BA-4739-9893-355AF6E38EF6}" destId="{4382D046-A9B7-40C1-8E45-958795985056}" srcOrd="1" destOrd="0" parTransId="{0B97FA65-0DDC-463F-80C1-7013F605247B}" sibTransId="{02957F22-2535-4395-88B5-09F423F15D2C}"/>
    <dgm:cxn modelId="{AA0D366A-81AA-4B8C-A152-12528812E7CE}" type="presOf" srcId="{0542ED76-A2D7-4FD1-873E-1285FA53344B}" destId="{BC331D8D-916F-46B8-B322-D353809929F2}" srcOrd="1" destOrd="0" presId="urn:microsoft.com/office/officeart/2005/8/layout/cycle2"/>
    <dgm:cxn modelId="{DEAB33E9-292F-496D-A5C5-415384BA966B}" type="presOf" srcId="{0542ED76-A2D7-4FD1-873E-1285FA53344B}" destId="{3FB74824-C300-474A-8F91-DEEA3B9FF59A}" srcOrd="0" destOrd="0" presId="urn:microsoft.com/office/officeart/2005/8/layout/cycle2"/>
    <dgm:cxn modelId="{D0E53518-A0BB-419B-8129-8941DC1E093C}" type="presOf" srcId="{ACC152D0-42FD-425F-8F77-91A53D42193D}" destId="{42ADCA82-ECB0-4D67-9929-C38E398DDA69}" srcOrd="0" destOrd="0" presId="urn:microsoft.com/office/officeart/2005/8/layout/cycle2"/>
    <dgm:cxn modelId="{60FF9A85-7D18-439D-8666-3FD47EF0C061}" type="presOf" srcId="{02957F22-2535-4395-88B5-09F423F15D2C}" destId="{412D9308-3689-4486-B779-B379B7654D17}" srcOrd="0" destOrd="0" presId="urn:microsoft.com/office/officeart/2005/8/layout/cycle2"/>
    <dgm:cxn modelId="{F5D8FA58-3178-4F9A-BBBF-BF55A05DEA8E}" type="presOf" srcId="{A0096778-F895-4887-86F2-77B12FF7E71E}" destId="{D1127D9C-5B7A-4C72-A14A-96B8C63AF14F}" srcOrd="0" destOrd="0" presId="urn:microsoft.com/office/officeart/2005/8/layout/cycle2"/>
    <dgm:cxn modelId="{C8261CD3-3902-4EF9-A885-AA011BFD7DAF}" srcId="{51794696-B2BA-4739-9893-355AF6E38EF6}" destId="{05F7207F-5004-473D-ACF0-8BB2FBC95475}" srcOrd="0" destOrd="0" parTransId="{60312F80-5CC7-4148-8142-25B3F1010442}" sibTransId="{A0096778-F895-4887-86F2-77B12FF7E71E}"/>
    <dgm:cxn modelId="{00470340-8778-47D3-B596-6A9B527D444E}" type="presOf" srcId="{4382D046-A9B7-40C1-8E45-958795985056}" destId="{56F57B56-854B-4278-8352-D243A68C1313}" srcOrd="0" destOrd="0" presId="urn:microsoft.com/office/officeart/2005/8/layout/cycle2"/>
    <dgm:cxn modelId="{62328676-3D91-4FDA-A239-85377D581751}" type="presParOf" srcId="{637E3A78-67C7-40EC-9C3C-8A89CA5C9B2F}" destId="{FBF6C235-0F55-4527-A0F1-EFE7041ADFB9}" srcOrd="0" destOrd="0" presId="urn:microsoft.com/office/officeart/2005/8/layout/cycle2"/>
    <dgm:cxn modelId="{D6E2FB79-EBD7-468B-B092-5835EFE3F504}" type="presParOf" srcId="{637E3A78-67C7-40EC-9C3C-8A89CA5C9B2F}" destId="{D1127D9C-5B7A-4C72-A14A-96B8C63AF14F}" srcOrd="1" destOrd="0" presId="urn:microsoft.com/office/officeart/2005/8/layout/cycle2"/>
    <dgm:cxn modelId="{2FF94664-B924-43EC-B3AC-64DC2965B706}" type="presParOf" srcId="{D1127D9C-5B7A-4C72-A14A-96B8C63AF14F}" destId="{65843DCF-54EE-47B0-9D68-EABE5A9C9A19}" srcOrd="0" destOrd="0" presId="urn:microsoft.com/office/officeart/2005/8/layout/cycle2"/>
    <dgm:cxn modelId="{8182FC0A-BFA0-495B-B875-EE3A1BC2CE7A}" type="presParOf" srcId="{637E3A78-67C7-40EC-9C3C-8A89CA5C9B2F}" destId="{56F57B56-854B-4278-8352-D243A68C1313}" srcOrd="2" destOrd="0" presId="urn:microsoft.com/office/officeart/2005/8/layout/cycle2"/>
    <dgm:cxn modelId="{160A66FA-C7AE-4D11-AC0D-6D08FF040DB9}" type="presParOf" srcId="{637E3A78-67C7-40EC-9C3C-8A89CA5C9B2F}" destId="{412D9308-3689-4486-B779-B379B7654D17}" srcOrd="3" destOrd="0" presId="urn:microsoft.com/office/officeart/2005/8/layout/cycle2"/>
    <dgm:cxn modelId="{AED18821-2CD1-45A9-BC5A-22F5C1620736}" type="presParOf" srcId="{412D9308-3689-4486-B779-B379B7654D17}" destId="{4CE4082A-06ED-47F9-AF4E-3AF012AC625A}" srcOrd="0" destOrd="0" presId="urn:microsoft.com/office/officeart/2005/8/layout/cycle2"/>
    <dgm:cxn modelId="{56C7019C-FAB2-43D4-9104-DBCF0AB912BC}" type="presParOf" srcId="{637E3A78-67C7-40EC-9C3C-8A89CA5C9B2F}" destId="{42ADCA82-ECB0-4D67-9929-C38E398DDA69}" srcOrd="4" destOrd="0" presId="urn:microsoft.com/office/officeart/2005/8/layout/cycle2"/>
    <dgm:cxn modelId="{4C2AEB93-F654-4FBD-9202-D752CBD46E2C}" type="presParOf" srcId="{637E3A78-67C7-40EC-9C3C-8A89CA5C9B2F}" destId="{3FB74824-C300-474A-8F91-DEEA3B9FF59A}" srcOrd="5" destOrd="0" presId="urn:microsoft.com/office/officeart/2005/8/layout/cycle2"/>
    <dgm:cxn modelId="{56CEB8C4-39F7-423E-BCC2-896C4E55E3AA}" type="presParOf" srcId="{3FB74824-C300-474A-8F91-DEEA3B9FF59A}" destId="{BC331D8D-916F-46B8-B322-D353809929F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DCE716-D654-45CD-AAE0-A546433F38A0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B7A5957-FFE7-470A-8A07-2510C2FCC759}">
      <dgm:prSet custT="1"/>
      <dgm:spPr/>
      <dgm:t>
        <a:bodyPr/>
        <a:lstStyle/>
        <a:p>
          <a:pPr rtl="0"/>
          <a:r>
            <a:rPr lang="en-US" sz="2000" dirty="0" smtClean="0"/>
            <a:t>Functional operation of the application</a:t>
          </a:r>
          <a:endParaRPr lang="en-GB" sz="2000" dirty="0"/>
        </a:p>
      </dgm:t>
    </dgm:pt>
    <dgm:pt modelId="{6F3D3422-3873-4D36-A9B4-F68A6BA6C510}" type="parTrans" cxnId="{DED0BC9B-3794-4D11-8279-FA8EA62C1842}">
      <dgm:prSet/>
      <dgm:spPr/>
      <dgm:t>
        <a:bodyPr/>
        <a:lstStyle/>
        <a:p>
          <a:endParaRPr lang="en-GB"/>
        </a:p>
      </dgm:t>
    </dgm:pt>
    <dgm:pt modelId="{55ACE49E-965D-4732-9B80-41912B1D76A5}" type="sibTrans" cxnId="{DED0BC9B-3794-4D11-8279-FA8EA62C1842}">
      <dgm:prSet/>
      <dgm:spPr/>
      <dgm:t>
        <a:bodyPr/>
        <a:lstStyle/>
        <a:p>
          <a:endParaRPr lang="en-GB"/>
        </a:p>
      </dgm:t>
    </dgm:pt>
    <dgm:pt modelId="{70F049AB-EC09-4862-9E7B-E007F7382828}">
      <dgm:prSet custT="1"/>
      <dgm:spPr/>
      <dgm:t>
        <a:bodyPr/>
        <a:lstStyle/>
        <a:p>
          <a:pPr rtl="0"/>
          <a:r>
            <a:rPr lang="en-US" sz="2000" dirty="0" smtClean="0"/>
            <a:t>Media upload and retrieval workflows</a:t>
          </a:r>
          <a:endParaRPr lang="en-GB" sz="2000" dirty="0"/>
        </a:p>
      </dgm:t>
    </dgm:pt>
    <dgm:pt modelId="{75517CA2-2538-4821-8E8D-B097014C33BC}" type="parTrans" cxnId="{08377B9F-F686-40AC-946E-EB08497BABB0}">
      <dgm:prSet/>
      <dgm:spPr/>
      <dgm:t>
        <a:bodyPr/>
        <a:lstStyle/>
        <a:p>
          <a:endParaRPr lang="en-GB"/>
        </a:p>
      </dgm:t>
    </dgm:pt>
    <dgm:pt modelId="{D2F1D5B6-8207-47A8-AE5A-EE98B158295D}" type="sibTrans" cxnId="{08377B9F-F686-40AC-946E-EB08497BABB0}">
      <dgm:prSet/>
      <dgm:spPr/>
      <dgm:t>
        <a:bodyPr/>
        <a:lstStyle/>
        <a:p>
          <a:endParaRPr lang="en-GB"/>
        </a:p>
      </dgm:t>
    </dgm:pt>
    <dgm:pt modelId="{572B31D4-8FE6-4EAA-B011-88DDF39E1AC6}">
      <dgm:prSet custT="1"/>
      <dgm:spPr/>
      <dgm:t>
        <a:bodyPr/>
        <a:lstStyle/>
        <a:p>
          <a:pPr rtl="0"/>
          <a:r>
            <a:rPr lang="en-US" sz="2000" dirty="0" smtClean="0"/>
            <a:t>Backend request handling</a:t>
          </a:r>
          <a:endParaRPr lang="en-GB" sz="2000" dirty="0"/>
        </a:p>
      </dgm:t>
    </dgm:pt>
    <dgm:pt modelId="{D5806ABE-21AC-496B-9B85-D0A85317EB22}" type="parTrans" cxnId="{62C1241B-29C5-4577-ADFB-581C796DD732}">
      <dgm:prSet/>
      <dgm:spPr/>
      <dgm:t>
        <a:bodyPr/>
        <a:lstStyle/>
        <a:p>
          <a:endParaRPr lang="en-GB"/>
        </a:p>
      </dgm:t>
    </dgm:pt>
    <dgm:pt modelId="{CA290D54-5AAE-40A3-AE87-D6FE6D133983}" type="sibTrans" cxnId="{62C1241B-29C5-4577-ADFB-581C796DD732}">
      <dgm:prSet/>
      <dgm:spPr/>
      <dgm:t>
        <a:bodyPr/>
        <a:lstStyle/>
        <a:p>
          <a:endParaRPr lang="en-GB"/>
        </a:p>
      </dgm:t>
    </dgm:pt>
    <dgm:pt modelId="{AB59EA5A-C914-4D72-A0F0-CFBC59868AB7}">
      <dgm:prSet custT="1"/>
      <dgm:spPr/>
      <dgm:t>
        <a:bodyPr/>
        <a:lstStyle/>
        <a:p>
          <a:pPr rtl="0"/>
          <a:r>
            <a:rPr lang="en-US" sz="2000" dirty="0" smtClean="0"/>
            <a:t>Deployment readiness for cloud infrastructure</a:t>
          </a:r>
          <a:endParaRPr lang="en-GB" sz="2000" dirty="0"/>
        </a:p>
      </dgm:t>
    </dgm:pt>
    <dgm:pt modelId="{9DA181DA-29FC-422B-A391-C1EED9A043BC}" type="parTrans" cxnId="{4888472A-4937-4237-979B-2F18DB9D56F5}">
      <dgm:prSet/>
      <dgm:spPr/>
      <dgm:t>
        <a:bodyPr/>
        <a:lstStyle/>
        <a:p>
          <a:endParaRPr lang="en-GB"/>
        </a:p>
      </dgm:t>
    </dgm:pt>
    <dgm:pt modelId="{CD22913D-5F11-4830-BCC0-BD04E0A72681}" type="sibTrans" cxnId="{4888472A-4937-4237-979B-2F18DB9D56F5}">
      <dgm:prSet/>
      <dgm:spPr/>
      <dgm:t>
        <a:bodyPr/>
        <a:lstStyle/>
        <a:p>
          <a:endParaRPr lang="en-GB"/>
        </a:p>
      </dgm:t>
    </dgm:pt>
    <dgm:pt modelId="{EFECEA35-99B7-4147-94E9-E370EDDEADCD}" type="pres">
      <dgm:prSet presAssocID="{74DCE716-D654-45CD-AAE0-A546433F38A0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96CA0F05-DC84-471A-963C-9960DF324B2F}" type="pres">
      <dgm:prSet presAssocID="{74DCE716-D654-45CD-AAE0-A546433F38A0}" presName="cycle" presStyleCnt="0"/>
      <dgm:spPr/>
    </dgm:pt>
    <dgm:pt modelId="{4FEC4E9E-6FAD-43F8-BDA4-EFFF5B522FAD}" type="pres">
      <dgm:prSet presAssocID="{74DCE716-D654-45CD-AAE0-A546433F38A0}" presName="centerShape" presStyleCnt="0"/>
      <dgm:spPr/>
    </dgm:pt>
    <dgm:pt modelId="{008A4E59-0EAB-428B-A120-6D2D94BE125F}" type="pres">
      <dgm:prSet presAssocID="{74DCE716-D654-45CD-AAE0-A546433F38A0}" presName="connSite" presStyleLbl="node1" presStyleIdx="0" presStyleCnt="5"/>
      <dgm:spPr/>
    </dgm:pt>
    <dgm:pt modelId="{8E7A446A-138C-4635-933B-10C158BB7323}" type="pres">
      <dgm:prSet presAssocID="{74DCE716-D654-45CD-AAE0-A546433F38A0}" presName="visible" presStyleLbl="node1" presStyleIdx="0" presStyleCnt="5" custScaleX="80808" custScaleY="80808" custLinFactNeighborX="7654" custLinFactNeighborY="1106"/>
      <dgm:spPr>
        <a:blipFill>
          <a:blip xmlns:r="http://schemas.openxmlformats.org/officeDocument/2006/relationships" r:embed="rId1"/>
          <a:srcRect/>
          <a:stretch>
            <a:fillRect l="-3000" r="-3000"/>
          </a:stretch>
        </a:blipFill>
      </dgm:spPr>
      <dgm:t>
        <a:bodyPr/>
        <a:lstStyle/>
        <a:p>
          <a:endParaRPr lang="en-GB"/>
        </a:p>
      </dgm:t>
    </dgm:pt>
    <dgm:pt modelId="{BAF6F508-BCFE-45CC-BFF5-093BB06AAC26}" type="pres">
      <dgm:prSet presAssocID="{6F3D3422-3873-4D36-A9B4-F68A6BA6C510}" presName="Name25" presStyleLbl="parChTrans1D1" presStyleIdx="0" presStyleCnt="4"/>
      <dgm:spPr/>
    </dgm:pt>
    <dgm:pt modelId="{5AEEC036-BF18-49E0-9E21-D15473060325}" type="pres">
      <dgm:prSet presAssocID="{9B7A5957-FFE7-470A-8A07-2510C2FCC759}" presName="node" presStyleCnt="0"/>
      <dgm:spPr/>
    </dgm:pt>
    <dgm:pt modelId="{D20DC81B-B338-46F5-958E-70AA93B7C5B3}" type="pres">
      <dgm:prSet presAssocID="{9B7A5957-FFE7-470A-8A07-2510C2FCC759}" presName="parentNode" presStyleLbl="node1" presStyleIdx="1" presStyleCnt="5" custScaleX="133579" custScaleY="133579" custLinFactNeighborX="17041" custLinFactNeighborY="42602">
        <dgm:presLayoutVars>
          <dgm:chMax val="1"/>
          <dgm:bulletEnabled val="1"/>
        </dgm:presLayoutVars>
      </dgm:prSet>
      <dgm:spPr/>
    </dgm:pt>
    <dgm:pt modelId="{D8EFF7F9-BA00-4861-815C-DB20167A4248}" type="pres">
      <dgm:prSet presAssocID="{9B7A5957-FFE7-470A-8A07-2510C2FCC759}" presName="childNode" presStyleLbl="revTx" presStyleIdx="0" presStyleCnt="0">
        <dgm:presLayoutVars>
          <dgm:bulletEnabled val="1"/>
        </dgm:presLayoutVars>
      </dgm:prSet>
      <dgm:spPr/>
    </dgm:pt>
    <dgm:pt modelId="{BCC965FE-8E3C-48E3-8A8F-DE7FEDCF96BD}" type="pres">
      <dgm:prSet presAssocID="{75517CA2-2538-4821-8E8D-B097014C33BC}" presName="Name25" presStyleLbl="parChTrans1D1" presStyleIdx="1" presStyleCnt="4"/>
      <dgm:spPr/>
    </dgm:pt>
    <dgm:pt modelId="{B9CDEEA6-4F92-45FA-8FE6-B73F2E3C4CFB}" type="pres">
      <dgm:prSet presAssocID="{70F049AB-EC09-4862-9E7B-E007F7382828}" presName="node" presStyleCnt="0"/>
      <dgm:spPr/>
    </dgm:pt>
    <dgm:pt modelId="{6F9F661D-1303-4283-BB90-F1DA46304949}" type="pres">
      <dgm:prSet presAssocID="{70F049AB-EC09-4862-9E7B-E007F7382828}" presName="parentNode" presStyleLbl="node1" presStyleIdx="2" presStyleCnt="5" custScaleX="133579" custScaleY="133579" custLinFactNeighborX="83310" custLinFactNeighborY="-11360">
        <dgm:presLayoutVars>
          <dgm:chMax val="1"/>
          <dgm:bulletEnabled val="1"/>
        </dgm:presLayoutVars>
      </dgm:prSet>
      <dgm:spPr/>
    </dgm:pt>
    <dgm:pt modelId="{AE6764E3-9481-40FF-97FA-0D436988E2B8}" type="pres">
      <dgm:prSet presAssocID="{70F049AB-EC09-4862-9E7B-E007F7382828}" presName="childNode" presStyleLbl="revTx" presStyleIdx="0" presStyleCnt="0">
        <dgm:presLayoutVars>
          <dgm:bulletEnabled val="1"/>
        </dgm:presLayoutVars>
      </dgm:prSet>
      <dgm:spPr/>
    </dgm:pt>
    <dgm:pt modelId="{B7D30C52-37C6-46EF-A87A-10427EFA68F5}" type="pres">
      <dgm:prSet presAssocID="{D5806ABE-21AC-496B-9B85-D0A85317EB22}" presName="Name25" presStyleLbl="parChTrans1D1" presStyleIdx="2" presStyleCnt="4"/>
      <dgm:spPr/>
    </dgm:pt>
    <dgm:pt modelId="{FC967DED-CE4D-42D0-BB84-6E2475F78A62}" type="pres">
      <dgm:prSet presAssocID="{572B31D4-8FE6-4EAA-B011-88DDF39E1AC6}" presName="node" presStyleCnt="0"/>
      <dgm:spPr/>
    </dgm:pt>
    <dgm:pt modelId="{853245B6-5964-43B6-9BC6-D71969B05B4C}" type="pres">
      <dgm:prSet presAssocID="{572B31D4-8FE6-4EAA-B011-88DDF39E1AC6}" presName="parentNode" presStyleLbl="node1" presStyleIdx="3" presStyleCnt="5" custScaleX="133579" custScaleY="133579" custLinFactX="14550" custLinFactNeighborX="100000" custLinFactNeighborY="16095">
        <dgm:presLayoutVars>
          <dgm:chMax val="1"/>
          <dgm:bulletEnabled val="1"/>
        </dgm:presLayoutVars>
      </dgm:prSet>
      <dgm:spPr/>
    </dgm:pt>
    <dgm:pt modelId="{ED0F6886-CE19-46A0-9498-6916F6FB7DB4}" type="pres">
      <dgm:prSet presAssocID="{572B31D4-8FE6-4EAA-B011-88DDF39E1AC6}" presName="childNode" presStyleLbl="revTx" presStyleIdx="0" presStyleCnt="0">
        <dgm:presLayoutVars>
          <dgm:bulletEnabled val="1"/>
        </dgm:presLayoutVars>
      </dgm:prSet>
      <dgm:spPr/>
    </dgm:pt>
    <dgm:pt modelId="{BD35B9C7-BFA6-4215-93FC-973F5CF411CD}" type="pres">
      <dgm:prSet presAssocID="{9DA181DA-29FC-422B-A391-C1EED9A043BC}" presName="Name25" presStyleLbl="parChTrans1D1" presStyleIdx="3" presStyleCnt="4"/>
      <dgm:spPr/>
    </dgm:pt>
    <dgm:pt modelId="{B7A8C934-6758-46A9-B187-217E0202A2B8}" type="pres">
      <dgm:prSet presAssocID="{AB59EA5A-C914-4D72-A0F0-CFBC59868AB7}" presName="node" presStyleCnt="0"/>
      <dgm:spPr/>
    </dgm:pt>
    <dgm:pt modelId="{5E72DDB3-6BE4-4709-9817-16E86E2D7AC5}" type="pres">
      <dgm:prSet presAssocID="{AB59EA5A-C914-4D72-A0F0-CFBC59868AB7}" presName="parentNode" presStyleLbl="node1" presStyleIdx="4" presStyleCnt="5" custScaleX="133579" custScaleY="133579" custLinFactNeighborX="29348" custLinFactNeighborY="-49314">
        <dgm:presLayoutVars>
          <dgm:chMax val="1"/>
          <dgm:bulletEnabled val="1"/>
        </dgm:presLayoutVars>
      </dgm:prSet>
      <dgm:spPr/>
    </dgm:pt>
    <dgm:pt modelId="{0067192D-F705-4A56-83B0-13C7B3BB43F6}" type="pres">
      <dgm:prSet presAssocID="{AB59EA5A-C914-4D72-A0F0-CFBC59868AB7}" presName="childNode" presStyleLbl="revTx" presStyleIdx="0" presStyleCnt="0">
        <dgm:presLayoutVars>
          <dgm:bulletEnabled val="1"/>
        </dgm:presLayoutVars>
      </dgm:prSet>
      <dgm:spPr/>
    </dgm:pt>
  </dgm:ptLst>
  <dgm:cxnLst>
    <dgm:cxn modelId="{0478C3A2-A8F3-4399-85DD-08CDAFBF5BCC}" type="presOf" srcId="{74DCE716-D654-45CD-AAE0-A546433F38A0}" destId="{EFECEA35-99B7-4147-94E9-E370EDDEADCD}" srcOrd="0" destOrd="0" presId="urn:microsoft.com/office/officeart/2005/8/layout/radial2"/>
    <dgm:cxn modelId="{F5E1E517-E2F6-42B8-BED5-38909BE96926}" type="presOf" srcId="{AB59EA5A-C914-4D72-A0F0-CFBC59868AB7}" destId="{5E72DDB3-6BE4-4709-9817-16E86E2D7AC5}" srcOrd="0" destOrd="0" presId="urn:microsoft.com/office/officeart/2005/8/layout/radial2"/>
    <dgm:cxn modelId="{FF4E47CC-264E-430D-AD10-D71D2D41FFB2}" type="presOf" srcId="{572B31D4-8FE6-4EAA-B011-88DDF39E1AC6}" destId="{853245B6-5964-43B6-9BC6-D71969B05B4C}" srcOrd="0" destOrd="0" presId="urn:microsoft.com/office/officeart/2005/8/layout/radial2"/>
    <dgm:cxn modelId="{7B871B58-748B-4C88-8F69-AD54A8A517A4}" type="presOf" srcId="{75517CA2-2538-4821-8E8D-B097014C33BC}" destId="{BCC965FE-8E3C-48E3-8A8F-DE7FEDCF96BD}" srcOrd="0" destOrd="0" presId="urn:microsoft.com/office/officeart/2005/8/layout/radial2"/>
    <dgm:cxn modelId="{08377B9F-F686-40AC-946E-EB08497BABB0}" srcId="{74DCE716-D654-45CD-AAE0-A546433F38A0}" destId="{70F049AB-EC09-4862-9E7B-E007F7382828}" srcOrd="1" destOrd="0" parTransId="{75517CA2-2538-4821-8E8D-B097014C33BC}" sibTransId="{D2F1D5B6-8207-47A8-AE5A-EE98B158295D}"/>
    <dgm:cxn modelId="{62C1241B-29C5-4577-ADFB-581C796DD732}" srcId="{74DCE716-D654-45CD-AAE0-A546433F38A0}" destId="{572B31D4-8FE6-4EAA-B011-88DDF39E1AC6}" srcOrd="2" destOrd="0" parTransId="{D5806ABE-21AC-496B-9B85-D0A85317EB22}" sibTransId="{CA290D54-5AAE-40A3-AE87-D6FE6D133983}"/>
    <dgm:cxn modelId="{A9AA8495-4B39-475F-8054-E63EB6058026}" type="presOf" srcId="{70F049AB-EC09-4862-9E7B-E007F7382828}" destId="{6F9F661D-1303-4283-BB90-F1DA46304949}" srcOrd="0" destOrd="0" presId="urn:microsoft.com/office/officeart/2005/8/layout/radial2"/>
    <dgm:cxn modelId="{92E8F3F2-2CE9-4D83-B0CB-76440F520DA9}" type="presOf" srcId="{9B7A5957-FFE7-470A-8A07-2510C2FCC759}" destId="{D20DC81B-B338-46F5-958E-70AA93B7C5B3}" srcOrd="0" destOrd="0" presId="urn:microsoft.com/office/officeart/2005/8/layout/radial2"/>
    <dgm:cxn modelId="{EEF8C866-B606-42A8-947E-76F129559AA9}" type="presOf" srcId="{6F3D3422-3873-4D36-A9B4-F68A6BA6C510}" destId="{BAF6F508-BCFE-45CC-BFF5-093BB06AAC26}" srcOrd="0" destOrd="0" presId="urn:microsoft.com/office/officeart/2005/8/layout/radial2"/>
    <dgm:cxn modelId="{DED0BC9B-3794-4D11-8279-FA8EA62C1842}" srcId="{74DCE716-D654-45CD-AAE0-A546433F38A0}" destId="{9B7A5957-FFE7-470A-8A07-2510C2FCC759}" srcOrd="0" destOrd="0" parTransId="{6F3D3422-3873-4D36-A9B4-F68A6BA6C510}" sibTransId="{55ACE49E-965D-4732-9B80-41912B1D76A5}"/>
    <dgm:cxn modelId="{4888472A-4937-4237-979B-2F18DB9D56F5}" srcId="{74DCE716-D654-45CD-AAE0-A546433F38A0}" destId="{AB59EA5A-C914-4D72-A0F0-CFBC59868AB7}" srcOrd="3" destOrd="0" parTransId="{9DA181DA-29FC-422B-A391-C1EED9A043BC}" sibTransId="{CD22913D-5F11-4830-BCC0-BD04E0A72681}"/>
    <dgm:cxn modelId="{AA8BA666-28BE-4724-B722-CCB1EFCF2D00}" type="presOf" srcId="{D5806ABE-21AC-496B-9B85-D0A85317EB22}" destId="{B7D30C52-37C6-46EF-A87A-10427EFA68F5}" srcOrd="0" destOrd="0" presId="urn:microsoft.com/office/officeart/2005/8/layout/radial2"/>
    <dgm:cxn modelId="{0AE158D7-E993-439C-887E-2FD672DC7690}" type="presOf" srcId="{9DA181DA-29FC-422B-A391-C1EED9A043BC}" destId="{BD35B9C7-BFA6-4215-93FC-973F5CF411CD}" srcOrd="0" destOrd="0" presId="urn:microsoft.com/office/officeart/2005/8/layout/radial2"/>
    <dgm:cxn modelId="{46B1A03E-741D-4FD9-BADF-BA8FFF6C37D3}" type="presParOf" srcId="{EFECEA35-99B7-4147-94E9-E370EDDEADCD}" destId="{96CA0F05-DC84-471A-963C-9960DF324B2F}" srcOrd="0" destOrd="0" presId="urn:microsoft.com/office/officeart/2005/8/layout/radial2"/>
    <dgm:cxn modelId="{E0EE70FF-F5C2-4D53-9CA8-99855E7D83A6}" type="presParOf" srcId="{96CA0F05-DC84-471A-963C-9960DF324B2F}" destId="{4FEC4E9E-6FAD-43F8-BDA4-EFFF5B522FAD}" srcOrd="0" destOrd="0" presId="urn:microsoft.com/office/officeart/2005/8/layout/radial2"/>
    <dgm:cxn modelId="{BCE06CDE-D181-4073-9A83-434FB5064408}" type="presParOf" srcId="{4FEC4E9E-6FAD-43F8-BDA4-EFFF5B522FAD}" destId="{008A4E59-0EAB-428B-A120-6D2D94BE125F}" srcOrd="0" destOrd="0" presId="urn:microsoft.com/office/officeart/2005/8/layout/radial2"/>
    <dgm:cxn modelId="{5D5E3CE0-798E-4380-9A0C-F4B6F48A972F}" type="presParOf" srcId="{4FEC4E9E-6FAD-43F8-BDA4-EFFF5B522FAD}" destId="{8E7A446A-138C-4635-933B-10C158BB7323}" srcOrd="1" destOrd="0" presId="urn:microsoft.com/office/officeart/2005/8/layout/radial2"/>
    <dgm:cxn modelId="{BF2D7603-0A2E-4C31-A01F-0E5E214D06F9}" type="presParOf" srcId="{96CA0F05-DC84-471A-963C-9960DF324B2F}" destId="{BAF6F508-BCFE-45CC-BFF5-093BB06AAC26}" srcOrd="1" destOrd="0" presId="urn:microsoft.com/office/officeart/2005/8/layout/radial2"/>
    <dgm:cxn modelId="{F8FA6A0B-2097-460F-9230-60978AAD9F1B}" type="presParOf" srcId="{96CA0F05-DC84-471A-963C-9960DF324B2F}" destId="{5AEEC036-BF18-49E0-9E21-D15473060325}" srcOrd="2" destOrd="0" presId="urn:microsoft.com/office/officeart/2005/8/layout/radial2"/>
    <dgm:cxn modelId="{3C8CF386-DE42-4C5D-B086-9591444E3FBF}" type="presParOf" srcId="{5AEEC036-BF18-49E0-9E21-D15473060325}" destId="{D20DC81B-B338-46F5-958E-70AA93B7C5B3}" srcOrd="0" destOrd="0" presId="urn:microsoft.com/office/officeart/2005/8/layout/radial2"/>
    <dgm:cxn modelId="{52571CF3-C2C5-4C7E-B90B-62B2C37BA390}" type="presParOf" srcId="{5AEEC036-BF18-49E0-9E21-D15473060325}" destId="{D8EFF7F9-BA00-4861-815C-DB20167A4248}" srcOrd="1" destOrd="0" presId="urn:microsoft.com/office/officeart/2005/8/layout/radial2"/>
    <dgm:cxn modelId="{BD6FD73A-A29C-4351-ABAD-DAD0A6D2F84C}" type="presParOf" srcId="{96CA0F05-DC84-471A-963C-9960DF324B2F}" destId="{BCC965FE-8E3C-48E3-8A8F-DE7FEDCF96BD}" srcOrd="3" destOrd="0" presId="urn:microsoft.com/office/officeart/2005/8/layout/radial2"/>
    <dgm:cxn modelId="{59995767-1C9F-4269-A07A-ED855C7F9298}" type="presParOf" srcId="{96CA0F05-DC84-471A-963C-9960DF324B2F}" destId="{B9CDEEA6-4F92-45FA-8FE6-B73F2E3C4CFB}" srcOrd="4" destOrd="0" presId="urn:microsoft.com/office/officeart/2005/8/layout/radial2"/>
    <dgm:cxn modelId="{46D87A7C-90F0-4897-9A63-2462260B0431}" type="presParOf" srcId="{B9CDEEA6-4F92-45FA-8FE6-B73F2E3C4CFB}" destId="{6F9F661D-1303-4283-BB90-F1DA46304949}" srcOrd="0" destOrd="0" presId="urn:microsoft.com/office/officeart/2005/8/layout/radial2"/>
    <dgm:cxn modelId="{0409C61B-0960-4EA2-8B0A-1497B22C30A3}" type="presParOf" srcId="{B9CDEEA6-4F92-45FA-8FE6-B73F2E3C4CFB}" destId="{AE6764E3-9481-40FF-97FA-0D436988E2B8}" srcOrd="1" destOrd="0" presId="urn:microsoft.com/office/officeart/2005/8/layout/radial2"/>
    <dgm:cxn modelId="{176D3D88-21F8-4B71-878E-C47666BC2BA6}" type="presParOf" srcId="{96CA0F05-DC84-471A-963C-9960DF324B2F}" destId="{B7D30C52-37C6-46EF-A87A-10427EFA68F5}" srcOrd="5" destOrd="0" presId="urn:microsoft.com/office/officeart/2005/8/layout/radial2"/>
    <dgm:cxn modelId="{EB01151D-10B1-42A8-881C-BB891673CA99}" type="presParOf" srcId="{96CA0F05-DC84-471A-963C-9960DF324B2F}" destId="{FC967DED-CE4D-42D0-BB84-6E2475F78A62}" srcOrd="6" destOrd="0" presId="urn:microsoft.com/office/officeart/2005/8/layout/radial2"/>
    <dgm:cxn modelId="{C6937291-F621-4105-98C6-823720A872AB}" type="presParOf" srcId="{FC967DED-CE4D-42D0-BB84-6E2475F78A62}" destId="{853245B6-5964-43B6-9BC6-D71969B05B4C}" srcOrd="0" destOrd="0" presId="urn:microsoft.com/office/officeart/2005/8/layout/radial2"/>
    <dgm:cxn modelId="{76354ADD-4BB4-458F-84C3-25C770A4944D}" type="presParOf" srcId="{FC967DED-CE4D-42D0-BB84-6E2475F78A62}" destId="{ED0F6886-CE19-46A0-9498-6916F6FB7DB4}" srcOrd="1" destOrd="0" presId="urn:microsoft.com/office/officeart/2005/8/layout/radial2"/>
    <dgm:cxn modelId="{B291706E-1690-4845-A28C-E9D64FF27D1E}" type="presParOf" srcId="{96CA0F05-DC84-471A-963C-9960DF324B2F}" destId="{BD35B9C7-BFA6-4215-93FC-973F5CF411CD}" srcOrd="7" destOrd="0" presId="urn:microsoft.com/office/officeart/2005/8/layout/radial2"/>
    <dgm:cxn modelId="{A2D790B8-2898-4E14-A45A-86B9C134C2DB}" type="presParOf" srcId="{96CA0F05-DC84-471A-963C-9960DF324B2F}" destId="{B7A8C934-6758-46A9-B187-217E0202A2B8}" srcOrd="8" destOrd="0" presId="urn:microsoft.com/office/officeart/2005/8/layout/radial2"/>
    <dgm:cxn modelId="{47A29ABC-AF7B-4162-9454-7FEC93E59149}" type="presParOf" srcId="{B7A8C934-6758-46A9-B187-217E0202A2B8}" destId="{5E72DDB3-6BE4-4709-9817-16E86E2D7AC5}" srcOrd="0" destOrd="0" presId="urn:microsoft.com/office/officeart/2005/8/layout/radial2"/>
    <dgm:cxn modelId="{4AF25906-1C57-4AE4-8A0C-0C5CBE42756C}" type="presParOf" srcId="{B7A8C934-6758-46A9-B187-217E0202A2B8}" destId="{0067192D-F705-4A56-83B0-13C7B3BB43F6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3211D5-0990-4EE6-9FC0-4A50B974DCED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5B08C1B-74E4-499A-950A-0C2B18E269C6}">
      <dgm:prSet custT="1"/>
      <dgm:spPr>
        <a:solidFill>
          <a:schemeClr val="accent5">
            <a:lumMod val="90000"/>
            <a:lumOff val="10000"/>
          </a:schemeClr>
        </a:solidFill>
      </dgm:spPr>
      <dgm:t>
        <a:bodyPr/>
        <a:lstStyle/>
        <a:p>
          <a:pPr rtl="0"/>
          <a:r>
            <a:rPr lang="en-GB" sz="2800" dirty="0" smtClean="0"/>
            <a:t>A clear understanding of scalability challenges in media platforms</a:t>
          </a:r>
          <a:endParaRPr lang="en-GB" sz="2800" dirty="0"/>
        </a:p>
      </dgm:t>
    </dgm:pt>
    <dgm:pt modelId="{9F6D6EEC-F1D9-4238-A68A-0D2E2CB4DD34}" type="parTrans" cxnId="{EF811074-4FD5-4E1B-B9C7-5F72F8BA8178}">
      <dgm:prSet/>
      <dgm:spPr/>
      <dgm:t>
        <a:bodyPr/>
        <a:lstStyle/>
        <a:p>
          <a:endParaRPr lang="en-GB" sz="2800"/>
        </a:p>
      </dgm:t>
    </dgm:pt>
    <dgm:pt modelId="{1A933D85-88EC-4260-A63A-205D335B06D4}" type="sibTrans" cxnId="{EF811074-4FD5-4E1B-B9C7-5F72F8BA8178}">
      <dgm:prSet/>
      <dgm:spPr/>
      <dgm:t>
        <a:bodyPr/>
        <a:lstStyle/>
        <a:p>
          <a:endParaRPr lang="en-GB" sz="2800"/>
        </a:p>
      </dgm:t>
    </dgm:pt>
    <dgm:pt modelId="{287066EB-2BB5-4FF8-8AC0-EBFD1E98B41D}">
      <dgm:prSet custT="1"/>
      <dgm:spPr>
        <a:solidFill>
          <a:schemeClr val="tx1"/>
        </a:solidFill>
      </dgm:spPr>
      <dgm:t>
        <a:bodyPr/>
        <a:lstStyle/>
        <a:p>
          <a:pPr rtl="0"/>
          <a:r>
            <a:rPr lang="en-GB" sz="2800" dirty="0" smtClean="0"/>
            <a:t>The application of cloud-native architectural principles</a:t>
          </a:r>
          <a:endParaRPr lang="en-GB" sz="2800" dirty="0"/>
        </a:p>
      </dgm:t>
    </dgm:pt>
    <dgm:pt modelId="{5BD77AF3-01EA-4490-9118-23F637C96660}" type="parTrans" cxnId="{FB24B093-BD8B-4D6A-B441-3703DF344C64}">
      <dgm:prSet/>
      <dgm:spPr/>
      <dgm:t>
        <a:bodyPr/>
        <a:lstStyle/>
        <a:p>
          <a:endParaRPr lang="en-GB" sz="2800"/>
        </a:p>
      </dgm:t>
    </dgm:pt>
    <dgm:pt modelId="{06DEB891-FBF2-441C-9F70-C567767E9833}" type="sibTrans" cxnId="{FB24B093-BD8B-4D6A-B441-3703DF344C64}">
      <dgm:prSet/>
      <dgm:spPr/>
      <dgm:t>
        <a:bodyPr/>
        <a:lstStyle/>
        <a:p>
          <a:endParaRPr lang="en-GB" sz="2800"/>
        </a:p>
      </dgm:t>
    </dgm:pt>
    <dgm:pt modelId="{B4C79255-295C-497F-9B82-E233ACD6163B}">
      <dgm:prSet custT="1"/>
      <dgm:spPr>
        <a:solidFill>
          <a:srgbClr val="7030A0"/>
        </a:solidFill>
      </dgm:spPr>
      <dgm:t>
        <a:bodyPr/>
        <a:lstStyle/>
        <a:p>
          <a:pPr rtl="0"/>
          <a:r>
            <a:rPr lang="en-GB" sz="2800" dirty="0" smtClean="0"/>
            <a:t>A functional prototype with a well-defined path to scalable deployment</a:t>
          </a:r>
          <a:endParaRPr lang="en-GB" sz="2800" dirty="0"/>
        </a:p>
      </dgm:t>
    </dgm:pt>
    <dgm:pt modelId="{C03F0C6C-A7C7-4C55-9B0E-4E56509AB212}" type="parTrans" cxnId="{E769F287-E280-4BB1-B546-7E0F3C2B30F8}">
      <dgm:prSet/>
      <dgm:spPr/>
      <dgm:t>
        <a:bodyPr/>
        <a:lstStyle/>
        <a:p>
          <a:endParaRPr lang="en-GB" sz="2800"/>
        </a:p>
      </dgm:t>
    </dgm:pt>
    <dgm:pt modelId="{F48947AC-1950-4208-A783-4B6C6F2F072C}" type="sibTrans" cxnId="{E769F287-E280-4BB1-B546-7E0F3C2B30F8}">
      <dgm:prSet/>
      <dgm:spPr/>
      <dgm:t>
        <a:bodyPr/>
        <a:lstStyle/>
        <a:p>
          <a:endParaRPr lang="en-GB" sz="2800"/>
        </a:p>
      </dgm:t>
    </dgm:pt>
    <dgm:pt modelId="{4F1D4700-32E0-4AF4-89EC-185415FB7CD8}">
      <dgm:prSet custT="1"/>
      <dgm:spPr>
        <a:solidFill>
          <a:schemeClr val="accent5">
            <a:lumMod val="75000"/>
            <a:lumOff val="25000"/>
          </a:schemeClr>
        </a:solidFill>
      </dgm:spPr>
      <dgm:t>
        <a:bodyPr/>
        <a:lstStyle/>
        <a:p>
          <a:pPr rtl="0"/>
          <a:r>
            <a:rPr lang="en-GB" sz="2400" dirty="0" smtClean="0"/>
            <a:t>The solution reflects professional-level system design practices and provides a strong foundation for production-grade scalability.</a:t>
          </a:r>
          <a:endParaRPr lang="en-GB" sz="2400" dirty="0"/>
        </a:p>
      </dgm:t>
    </dgm:pt>
    <dgm:pt modelId="{FCC0F940-DE1C-4092-B149-9F69E0DEAC3C}" type="parTrans" cxnId="{7456BB3A-7DBE-41DC-93A8-E495FF39EFB3}">
      <dgm:prSet/>
      <dgm:spPr/>
      <dgm:t>
        <a:bodyPr/>
        <a:lstStyle/>
        <a:p>
          <a:endParaRPr lang="en-GB" sz="2800"/>
        </a:p>
      </dgm:t>
    </dgm:pt>
    <dgm:pt modelId="{DABF6FA9-7A84-4485-A26A-538E6BD706D8}" type="sibTrans" cxnId="{7456BB3A-7DBE-41DC-93A8-E495FF39EFB3}">
      <dgm:prSet/>
      <dgm:spPr/>
      <dgm:t>
        <a:bodyPr/>
        <a:lstStyle/>
        <a:p>
          <a:endParaRPr lang="en-GB" sz="2800"/>
        </a:p>
      </dgm:t>
    </dgm:pt>
    <dgm:pt modelId="{18B15BC0-04C3-4D15-94D2-9E15B6233E00}" type="pres">
      <dgm:prSet presAssocID="{603211D5-0990-4EE6-9FC0-4A50B974DCED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ABAD064-1AEA-405E-AAB9-6938731D2B56}" type="pres">
      <dgm:prSet presAssocID="{603211D5-0990-4EE6-9FC0-4A50B974DCED}" presName="diamond" presStyleLbl="bgShp" presStyleIdx="0" presStyleCnt="1"/>
      <dgm:spPr/>
    </dgm:pt>
    <dgm:pt modelId="{76F2A236-76DF-4D81-B2F2-720F4291E79D}" type="pres">
      <dgm:prSet presAssocID="{603211D5-0990-4EE6-9FC0-4A50B974DCED}" presName="quad1" presStyleLbl="node1" presStyleIdx="0" presStyleCnt="4" custScaleX="152784" custScaleY="120292" custLinFactNeighborX="-35175" custLinFactNeighborY="-1487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F15FD3E-16FC-44E2-9EE2-86E5E750FD9D}" type="pres">
      <dgm:prSet presAssocID="{603211D5-0990-4EE6-9FC0-4A50B974DCED}" presName="quad2" presStyleLbl="node1" presStyleIdx="1" presStyleCnt="4" custScaleX="152784" custScaleY="120292" custLinFactNeighborX="41649" custLinFactNeighborY="-1918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31876B3-1450-4DBA-8872-C0C0D6347419}" type="pres">
      <dgm:prSet presAssocID="{603211D5-0990-4EE6-9FC0-4A50B974DCED}" presName="quad3" presStyleLbl="node1" presStyleIdx="2" presStyleCnt="4" custScaleX="152784" custScaleY="120292" custLinFactNeighborX="-36596" custLinFactNeighborY="1705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31EA29C-5862-491B-B083-28645B228D64}" type="pres">
      <dgm:prSet presAssocID="{603211D5-0990-4EE6-9FC0-4A50B974DCED}" presName="quad4" presStyleLbl="node1" presStyleIdx="3" presStyleCnt="4" custScaleX="152784" custScaleY="120292" custLinFactNeighborX="40229" custLinFactNeighborY="1274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7456BB3A-7DBE-41DC-93A8-E495FF39EFB3}" srcId="{603211D5-0990-4EE6-9FC0-4A50B974DCED}" destId="{4F1D4700-32E0-4AF4-89EC-185415FB7CD8}" srcOrd="3" destOrd="0" parTransId="{FCC0F940-DE1C-4092-B149-9F69E0DEAC3C}" sibTransId="{DABF6FA9-7A84-4485-A26A-538E6BD706D8}"/>
    <dgm:cxn modelId="{54FB8829-BC00-4E44-86A4-DADA62F46397}" type="presOf" srcId="{287066EB-2BB5-4FF8-8AC0-EBFD1E98B41D}" destId="{CF15FD3E-16FC-44E2-9EE2-86E5E750FD9D}" srcOrd="0" destOrd="0" presId="urn:microsoft.com/office/officeart/2005/8/layout/matrix3"/>
    <dgm:cxn modelId="{9DFDB062-3732-487C-80E1-D23D2A2492ED}" type="presOf" srcId="{4F1D4700-32E0-4AF4-89EC-185415FB7CD8}" destId="{031EA29C-5862-491B-B083-28645B228D64}" srcOrd="0" destOrd="0" presId="urn:microsoft.com/office/officeart/2005/8/layout/matrix3"/>
    <dgm:cxn modelId="{EF811074-4FD5-4E1B-B9C7-5F72F8BA8178}" srcId="{603211D5-0990-4EE6-9FC0-4A50B974DCED}" destId="{35B08C1B-74E4-499A-950A-0C2B18E269C6}" srcOrd="0" destOrd="0" parTransId="{9F6D6EEC-F1D9-4238-A68A-0D2E2CB4DD34}" sibTransId="{1A933D85-88EC-4260-A63A-205D335B06D4}"/>
    <dgm:cxn modelId="{6CDAB5F9-3DDE-453E-B143-A640641B77A0}" type="presOf" srcId="{603211D5-0990-4EE6-9FC0-4A50B974DCED}" destId="{18B15BC0-04C3-4D15-94D2-9E15B6233E00}" srcOrd="0" destOrd="0" presId="urn:microsoft.com/office/officeart/2005/8/layout/matrix3"/>
    <dgm:cxn modelId="{BA607C59-194A-47B9-B299-FBD67F33F6E4}" type="presOf" srcId="{B4C79255-295C-497F-9B82-E233ACD6163B}" destId="{031876B3-1450-4DBA-8872-C0C0D6347419}" srcOrd="0" destOrd="0" presId="urn:microsoft.com/office/officeart/2005/8/layout/matrix3"/>
    <dgm:cxn modelId="{E769F287-E280-4BB1-B546-7E0F3C2B30F8}" srcId="{603211D5-0990-4EE6-9FC0-4A50B974DCED}" destId="{B4C79255-295C-497F-9B82-E233ACD6163B}" srcOrd="2" destOrd="0" parTransId="{C03F0C6C-A7C7-4C55-9B0E-4E56509AB212}" sibTransId="{F48947AC-1950-4208-A783-4B6C6F2F072C}"/>
    <dgm:cxn modelId="{5DA9C10D-2E1D-49B6-A787-46184B72D2EB}" type="presOf" srcId="{35B08C1B-74E4-499A-950A-0C2B18E269C6}" destId="{76F2A236-76DF-4D81-B2F2-720F4291E79D}" srcOrd="0" destOrd="0" presId="urn:microsoft.com/office/officeart/2005/8/layout/matrix3"/>
    <dgm:cxn modelId="{FB24B093-BD8B-4D6A-B441-3703DF344C64}" srcId="{603211D5-0990-4EE6-9FC0-4A50B974DCED}" destId="{287066EB-2BB5-4FF8-8AC0-EBFD1E98B41D}" srcOrd="1" destOrd="0" parTransId="{5BD77AF3-01EA-4490-9118-23F637C96660}" sibTransId="{06DEB891-FBF2-441C-9F70-C567767E9833}"/>
    <dgm:cxn modelId="{EAF64861-F479-44F6-97BB-4531223E521B}" type="presParOf" srcId="{18B15BC0-04C3-4D15-94D2-9E15B6233E00}" destId="{9ABAD064-1AEA-405E-AAB9-6938731D2B56}" srcOrd="0" destOrd="0" presId="urn:microsoft.com/office/officeart/2005/8/layout/matrix3"/>
    <dgm:cxn modelId="{D875B114-B678-4668-AA67-CE5949DB7282}" type="presParOf" srcId="{18B15BC0-04C3-4D15-94D2-9E15B6233E00}" destId="{76F2A236-76DF-4D81-B2F2-720F4291E79D}" srcOrd="1" destOrd="0" presId="urn:microsoft.com/office/officeart/2005/8/layout/matrix3"/>
    <dgm:cxn modelId="{660CEED2-4665-4584-8251-D9528A131DFE}" type="presParOf" srcId="{18B15BC0-04C3-4D15-94D2-9E15B6233E00}" destId="{CF15FD3E-16FC-44E2-9EE2-86E5E750FD9D}" srcOrd="2" destOrd="0" presId="urn:microsoft.com/office/officeart/2005/8/layout/matrix3"/>
    <dgm:cxn modelId="{BCDD2746-B245-4CC8-ACC0-800F75CBE208}" type="presParOf" srcId="{18B15BC0-04C3-4D15-94D2-9E15B6233E00}" destId="{031876B3-1450-4DBA-8872-C0C0D6347419}" srcOrd="3" destOrd="0" presId="urn:microsoft.com/office/officeart/2005/8/layout/matrix3"/>
    <dgm:cxn modelId="{FDD171D7-2BFF-4E3C-8C92-03B529B56035}" type="presParOf" srcId="{18B15BC0-04C3-4D15-94D2-9E15B6233E00}" destId="{031EA29C-5862-491B-B083-28645B228D6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6C235-0F55-4527-A0F1-EFE7041ADFB9}">
      <dsp:nvSpPr>
        <dsp:cNvPr id="0" name=""/>
        <dsp:cNvSpPr/>
      </dsp:nvSpPr>
      <dsp:spPr>
        <a:xfrm>
          <a:off x="3393834" y="-34480"/>
          <a:ext cx="2725607" cy="2725607"/>
        </a:xfrm>
        <a:prstGeom prst="ellipse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 smtClean="0"/>
            <a:t>Single-instance deployment</a:t>
          </a:r>
          <a:endParaRPr lang="en-GB" sz="2800" kern="1200" dirty="0"/>
        </a:p>
      </dsp:txBody>
      <dsp:txXfrm>
        <a:off x="3792990" y="364676"/>
        <a:ext cx="1927295" cy="1927295"/>
      </dsp:txXfrm>
    </dsp:sp>
    <dsp:sp modelId="{D1127D9C-5B7A-4C72-A14A-96B8C63AF14F}">
      <dsp:nvSpPr>
        <dsp:cNvPr id="0" name=""/>
        <dsp:cNvSpPr/>
      </dsp:nvSpPr>
      <dsp:spPr>
        <a:xfrm rot="3600000">
          <a:off x="5410504" y="2586735"/>
          <a:ext cx="648611" cy="8716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800" kern="1200"/>
        </a:p>
      </dsp:txBody>
      <dsp:txXfrm>
        <a:off x="5459150" y="2676811"/>
        <a:ext cx="454028" cy="522997"/>
      </dsp:txXfrm>
    </dsp:sp>
    <dsp:sp modelId="{56F57B56-854B-4278-8352-D243A68C1313}">
      <dsp:nvSpPr>
        <dsp:cNvPr id="0" name=""/>
        <dsp:cNvSpPr/>
      </dsp:nvSpPr>
      <dsp:spPr>
        <a:xfrm>
          <a:off x="5404261" y="3395374"/>
          <a:ext cx="2582706" cy="2582706"/>
        </a:xfrm>
        <a:prstGeom prst="ellipse">
          <a:avLst/>
        </a:prstGeom>
        <a:solidFill>
          <a:schemeClr val="accent5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 smtClean="0"/>
            <a:t>File-based database constraints</a:t>
          </a:r>
          <a:endParaRPr lang="en-GB" sz="2800" kern="1200" dirty="0"/>
        </a:p>
      </dsp:txBody>
      <dsp:txXfrm>
        <a:off x="5782490" y="3773603"/>
        <a:ext cx="1826248" cy="1826248"/>
      </dsp:txXfrm>
    </dsp:sp>
    <dsp:sp modelId="{412D9308-3689-4486-B779-B379B7654D17}">
      <dsp:nvSpPr>
        <dsp:cNvPr id="0" name=""/>
        <dsp:cNvSpPr/>
      </dsp:nvSpPr>
      <dsp:spPr>
        <a:xfrm rot="10800000">
          <a:off x="4432827" y="4250895"/>
          <a:ext cx="686480" cy="8716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800" kern="1200"/>
        </a:p>
      </dsp:txBody>
      <dsp:txXfrm rot="10800000">
        <a:off x="4638771" y="4425228"/>
        <a:ext cx="480536" cy="522997"/>
      </dsp:txXfrm>
    </dsp:sp>
    <dsp:sp modelId="{42ADCA82-ECB0-4D67-9929-C38E398DDA69}">
      <dsp:nvSpPr>
        <dsp:cNvPr id="0" name=""/>
        <dsp:cNvSpPr/>
      </dsp:nvSpPr>
      <dsp:spPr>
        <a:xfrm>
          <a:off x="1526309" y="3395374"/>
          <a:ext cx="2582706" cy="2582706"/>
        </a:xfrm>
        <a:prstGeom prst="ellipse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smtClean="0"/>
            <a:t>Lack of caching and autoscaling</a:t>
          </a:r>
          <a:endParaRPr lang="en-GB" sz="2800" kern="1200"/>
        </a:p>
      </dsp:txBody>
      <dsp:txXfrm>
        <a:off x="1904538" y="3773603"/>
        <a:ext cx="1826248" cy="1826248"/>
      </dsp:txXfrm>
    </dsp:sp>
    <dsp:sp modelId="{3FB74824-C300-474A-8F91-DEEA3B9FF59A}">
      <dsp:nvSpPr>
        <dsp:cNvPr id="0" name=""/>
        <dsp:cNvSpPr/>
      </dsp:nvSpPr>
      <dsp:spPr>
        <a:xfrm rot="18000000">
          <a:off x="3435803" y="2618530"/>
          <a:ext cx="648611" cy="8716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800" kern="1200"/>
        </a:p>
      </dsp:txBody>
      <dsp:txXfrm>
        <a:off x="3484449" y="2877120"/>
        <a:ext cx="454028" cy="5229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35B9C7-BFA6-4215-93FC-973F5CF411CD}">
      <dsp:nvSpPr>
        <dsp:cNvPr id="0" name=""/>
        <dsp:cNvSpPr/>
      </dsp:nvSpPr>
      <dsp:spPr>
        <a:xfrm rot="2776721">
          <a:off x="2331009" y="4489800"/>
          <a:ext cx="427891" cy="57128"/>
        </a:xfrm>
        <a:custGeom>
          <a:avLst/>
          <a:gdLst/>
          <a:ahLst/>
          <a:cxnLst/>
          <a:rect l="0" t="0" r="0" b="0"/>
          <a:pathLst>
            <a:path>
              <a:moveTo>
                <a:pt x="0" y="28564"/>
              </a:moveTo>
              <a:lnTo>
                <a:pt x="427891" y="285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D30C52-37C6-46EF-A87A-10427EFA68F5}">
      <dsp:nvSpPr>
        <dsp:cNvPr id="0" name=""/>
        <dsp:cNvSpPr/>
      </dsp:nvSpPr>
      <dsp:spPr>
        <a:xfrm rot="993568">
          <a:off x="2386869" y="4045146"/>
          <a:ext cx="2376936" cy="57128"/>
        </a:xfrm>
        <a:custGeom>
          <a:avLst/>
          <a:gdLst/>
          <a:ahLst/>
          <a:cxnLst/>
          <a:rect l="0" t="0" r="0" b="0"/>
          <a:pathLst>
            <a:path>
              <a:moveTo>
                <a:pt x="0" y="28564"/>
              </a:moveTo>
              <a:lnTo>
                <a:pt x="2376936" y="285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C965FE-8E3C-48E3-8A8F-DE7FEDCF96BD}">
      <dsp:nvSpPr>
        <dsp:cNvPr id="0" name=""/>
        <dsp:cNvSpPr/>
      </dsp:nvSpPr>
      <dsp:spPr>
        <a:xfrm rot="20546725">
          <a:off x="2392095" y="2871873"/>
          <a:ext cx="1892484" cy="57128"/>
        </a:xfrm>
        <a:custGeom>
          <a:avLst/>
          <a:gdLst/>
          <a:ahLst/>
          <a:cxnLst/>
          <a:rect l="0" t="0" r="0" b="0"/>
          <a:pathLst>
            <a:path>
              <a:moveTo>
                <a:pt x="0" y="28564"/>
              </a:moveTo>
              <a:lnTo>
                <a:pt x="1892484" y="285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F6F508-BCFE-45CC-BFF5-093BB06AAC26}">
      <dsp:nvSpPr>
        <dsp:cNvPr id="0" name=""/>
        <dsp:cNvSpPr/>
      </dsp:nvSpPr>
      <dsp:spPr>
        <a:xfrm rot="18552942">
          <a:off x="2186374" y="2366088"/>
          <a:ext cx="463187" cy="57128"/>
        </a:xfrm>
        <a:custGeom>
          <a:avLst/>
          <a:gdLst/>
          <a:ahLst/>
          <a:cxnLst/>
          <a:rect l="0" t="0" r="0" b="0"/>
          <a:pathLst>
            <a:path>
              <a:moveTo>
                <a:pt x="0" y="28564"/>
              </a:moveTo>
              <a:lnTo>
                <a:pt x="463187" y="2856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7A446A-138C-4635-933B-10C158BB7323}">
      <dsp:nvSpPr>
        <dsp:cNvPr id="0" name=""/>
        <dsp:cNvSpPr/>
      </dsp:nvSpPr>
      <dsp:spPr>
        <a:xfrm>
          <a:off x="704028" y="2464200"/>
          <a:ext cx="2065981" cy="2065981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000" r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DC81B-B338-46F5-958E-70AA93B7C5B3}">
      <dsp:nvSpPr>
        <dsp:cNvPr id="0" name=""/>
        <dsp:cNvSpPr/>
      </dsp:nvSpPr>
      <dsp:spPr>
        <a:xfrm>
          <a:off x="2187606" y="396886"/>
          <a:ext cx="2049092" cy="20490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Functional operation of the application</a:t>
          </a:r>
          <a:endParaRPr lang="en-GB" sz="2000" kern="1200" dirty="0"/>
        </a:p>
      </dsp:txBody>
      <dsp:txXfrm>
        <a:off x="2487689" y="696969"/>
        <a:ext cx="1448926" cy="1448926"/>
      </dsp:txXfrm>
    </dsp:sp>
    <dsp:sp modelId="{6F9F661D-1303-4283-BB90-F1DA46304949}">
      <dsp:nvSpPr>
        <dsp:cNvPr id="0" name=""/>
        <dsp:cNvSpPr/>
      </dsp:nvSpPr>
      <dsp:spPr>
        <a:xfrm>
          <a:off x="4192800" y="1281474"/>
          <a:ext cx="2049092" cy="20490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Media upload and retrieval workflows</a:t>
          </a:r>
          <a:endParaRPr lang="en-GB" sz="2000" kern="1200" dirty="0"/>
        </a:p>
      </dsp:txBody>
      <dsp:txXfrm>
        <a:off x="4492883" y="1581557"/>
        <a:ext cx="1448926" cy="1448926"/>
      </dsp:txXfrm>
    </dsp:sp>
    <dsp:sp modelId="{853245B6-5964-43B6-9BC6-D71969B05B4C}">
      <dsp:nvSpPr>
        <dsp:cNvPr id="0" name=""/>
        <dsp:cNvSpPr/>
      </dsp:nvSpPr>
      <dsp:spPr>
        <a:xfrm>
          <a:off x="4672019" y="3679896"/>
          <a:ext cx="2049092" cy="20490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Backend request handling</a:t>
          </a:r>
          <a:endParaRPr lang="en-GB" sz="2000" kern="1200" dirty="0"/>
        </a:p>
      </dsp:txBody>
      <dsp:txXfrm>
        <a:off x="4972102" y="3979979"/>
        <a:ext cx="1448926" cy="1448926"/>
      </dsp:txXfrm>
    </dsp:sp>
    <dsp:sp modelId="{5E72DDB3-6BE4-4709-9817-16E86E2D7AC5}">
      <dsp:nvSpPr>
        <dsp:cNvPr id="0" name=""/>
        <dsp:cNvSpPr/>
      </dsp:nvSpPr>
      <dsp:spPr>
        <a:xfrm>
          <a:off x="2376394" y="4388889"/>
          <a:ext cx="2049092" cy="20490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Deployment readiness for cloud infrastructure</a:t>
          </a:r>
          <a:endParaRPr lang="en-GB" sz="2000" kern="1200" dirty="0"/>
        </a:p>
      </dsp:txBody>
      <dsp:txXfrm>
        <a:off x="2676477" y="4688972"/>
        <a:ext cx="1448926" cy="14489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AD064-1AEA-405E-AAB9-6938731D2B56}">
      <dsp:nvSpPr>
        <dsp:cNvPr id="0" name=""/>
        <dsp:cNvSpPr/>
      </dsp:nvSpPr>
      <dsp:spPr>
        <a:xfrm>
          <a:off x="1046284" y="0"/>
          <a:ext cx="6348045" cy="634804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2A236-76DF-4D81-B2F2-720F4291E79D}">
      <dsp:nvSpPr>
        <dsp:cNvPr id="0" name=""/>
        <dsp:cNvSpPr/>
      </dsp:nvSpPr>
      <dsp:spPr>
        <a:xfrm>
          <a:off x="125111" y="0"/>
          <a:ext cx="3782530" cy="2978114"/>
        </a:xfrm>
        <a:prstGeom prst="roundRect">
          <a:avLst/>
        </a:prstGeom>
        <a:solidFill>
          <a:schemeClr val="accent5">
            <a:lumMod val="90000"/>
            <a:lumOff val="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 smtClean="0"/>
            <a:t>A clear understanding of scalability challenges in media platforms</a:t>
          </a:r>
          <a:endParaRPr lang="en-GB" sz="2800" kern="1200" dirty="0"/>
        </a:p>
      </dsp:txBody>
      <dsp:txXfrm>
        <a:off x="270491" y="145380"/>
        <a:ext cx="3491770" cy="2687354"/>
      </dsp:txXfrm>
    </dsp:sp>
    <dsp:sp modelId="{CF15FD3E-16FC-44E2-9EE2-86E5E750FD9D}">
      <dsp:nvSpPr>
        <dsp:cNvPr id="0" name=""/>
        <dsp:cNvSpPr/>
      </dsp:nvSpPr>
      <dsp:spPr>
        <a:xfrm>
          <a:off x="4658084" y="0"/>
          <a:ext cx="3782530" cy="2978114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 smtClean="0"/>
            <a:t>The application of cloud-native architectural principles</a:t>
          </a:r>
          <a:endParaRPr lang="en-GB" sz="2800" kern="1200" dirty="0"/>
        </a:p>
      </dsp:txBody>
      <dsp:txXfrm>
        <a:off x="4803464" y="145380"/>
        <a:ext cx="3491770" cy="2687354"/>
      </dsp:txXfrm>
    </dsp:sp>
    <dsp:sp modelId="{031876B3-1450-4DBA-8872-C0C0D6347419}">
      <dsp:nvSpPr>
        <dsp:cNvPr id="0" name=""/>
        <dsp:cNvSpPr/>
      </dsp:nvSpPr>
      <dsp:spPr>
        <a:xfrm>
          <a:off x="89931" y="3369930"/>
          <a:ext cx="3782530" cy="2978114"/>
        </a:xfrm>
        <a:prstGeom prst="round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800" kern="1200" dirty="0" smtClean="0"/>
            <a:t>A functional prototype with a well-defined path to scalable deployment</a:t>
          </a:r>
          <a:endParaRPr lang="en-GB" sz="2800" kern="1200" dirty="0"/>
        </a:p>
      </dsp:txBody>
      <dsp:txXfrm>
        <a:off x="235311" y="3515310"/>
        <a:ext cx="3491770" cy="2687354"/>
      </dsp:txXfrm>
    </dsp:sp>
    <dsp:sp modelId="{031EA29C-5862-491B-B083-28645B228D64}">
      <dsp:nvSpPr>
        <dsp:cNvPr id="0" name=""/>
        <dsp:cNvSpPr/>
      </dsp:nvSpPr>
      <dsp:spPr>
        <a:xfrm>
          <a:off x="4658084" y="3333661"/>
          <a:ext cx="3782530" cy="2978114"/>
        </a:xfrm>
        <a:prstGeom prst="roundRect">
          <a:avLst/>
        </a:prstGeom>
        <a:solidFill>
          <a:schemeClr val="accent5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dirty="0" smtClean="0"/>
            <a:t>The solution reflects professional-level system design practices and provides a strong foundation for production-grade scalability.</a:t>
          </a:r>
          <a:endParaRPr lang="en-GB" sz="2400" kern="1200" dirty="0"/>
        </a:p>
      </dsp:txBody>
      <dsp:txXfrm>
        <a:off x="4803464" y="3479041"/>
        <a:ext cx="3491770" cy="26873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12/17/2025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=""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=""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=""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=""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="" xmlns:a16="http://schemas.microsoft.com/office/drawing/2014/main" id="{BBC0CAF5-0DE6-4BEA-824E-124A54A76A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="" xmlns:a16="http://schemas.microsoft.com/office/drawing/2014/main" id="{ED008080-B2F5-441A-8B15-30AE86BBF9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=""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=""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=""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=""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=""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Text Placeholder 4">
            <a:extLst>
              <a:ext uri="{FF2B5EF4-FFF2-40B4-BE49-F238E27FC236}">
                <a16:creationId xmlns=""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1" name="Text Placeholder 5">
            <a:extLst>
              <a:ext uri="{FF2B5EF4-FFF2-40B4-BE49-F238E27FC236}">
                <a16:creationId xmlns=""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5">
            <a:extLst>
              <a:ext uri="{FF2B5EF4-FFF2-40B4-BE49-F238E27FC236}">
                <a16:creationId xmlns=""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=""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=""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=""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=""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=""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="" xmlns:a16="http://schemas.microsoft.com/office/drawing/2014/main" id="{48A1A904-FE62-4BE3-BAE9-0EEAE7B1E3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="" xmlns:a16="http://schemas.microsoft.com/office/drawing/2014/main" id="{3E8A46E0-47C2-4441-B7DD-F621A80F1F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=""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=""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8" name="Content Placeholder 3">
            <a:extLst>
              <a:ext uri="{FF2B5EF4-FFF2-40B4-BE49-F238E27FC236}">
                <a16:creationId xmlns=""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="" xmlns:a16="http://schemas.microsoft.com/office/drawing/2014/main" id="{48A1A904-FE62-4BE3-BAE9-0EEAE7B1E3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=""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="" xmlns:a16="http://schemas.microsoft.com/office/drawing/2014/main" id="{48A1A904-FE62-4BE3-BAE9-0EEAE7B1E38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=""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=""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=""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sz="2500" b="1" i="0" spc="-100" baseline="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n-US" sz="1200" b="0" i="0" spc="14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=""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486" y="1146629"/>
            <a:ext cx="8790214" cy="2925719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Scalable Cloud-Native Photo and Video Distribution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=""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946390"/>
          </a:xfrm>
        </p:spPr>
        <p:txBody>
          <a:bodyPr/>
          <a:lstStyle/>
          <a:p>
            <a:r>
              <a:rPr lang="en-GB" b="1" dirty="0" smtClean="0"/>
              <a:t>I-MEET   </a:t>
            </a:r>
          </a:p>
          <a:p>
            <a:r>
              <a:rPr lang="en-GB" b="1" dirty="0" smtClean="0"/>
              <a:t>Share </a:t>
            </a:r>
            <a:r>
              <a:rPr lang="en-GB" b="1" dirty="0" smtClean="0"/>
              <a:t>Your Moments</a:t>
            </a:r>
            <a:endParaRPr lang="en-GB" dirty="0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114379" y="2795935"/>
            <a:ext cx="1538777" cy="847718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/>
            <a:r>
              <a:rPr lang="en-US" sz="2400" b="1" spc="-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Ifeanyi</a:t>
            </a:r>
            <a:endParaRPr lang="en-US" sz="2400" b="1" spc="-100" dirty="0" smtClean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  <a:p>
            <a:pPr algn="ctr"/>
            <a:r>
              <a:rPr lang="en-US" sz="2400" b="1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Robinson</a:t>
            </a:r>
            <a:endParaRPr lang="en-US" b="0" i="0" spc="140" baseline="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46031" y="3316906"/>
            <a:ext cx="5835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Module:</a:t>
            </a:r>
            <a:r>
              <a:rPr lang="en-US" dirty="0"/>
              <a:t> COM769 – Scalable Advanced Software Solutions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9769542" y="6103649"/>
            <a:ext cx="2422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MSc Computer Science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172437" y="3822429"/>
            <a:ext cx="1538777" cy="478387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/>
            <a:r>
              <a:rPr lang="en-US" sz="2400" b="1" spc="-1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Id here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7297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</a:t>
            </a:r>
            <a:endParaRPr lang="en-GB" dirty="0"/>
          </a:p>
        </p:txBody>
      </p:sp>
      <p:grpSp>
        <p:nvGrpSpPr>
          <p:cNvPr id="3" name="Group 2"/>
          <p:cNvGrpSpPr/>
          <p:nvPr/>
        </p:nvGrpSpPr>
        <p:grpSpPr>
          <a:xfrm>
            <a:off x="9136380" y="0"/>
            <a:ext cx="3055620" cy="6857999"/>
            <a:chOff x="9136380" y="0"/>
            <a:chExt cx="3055620" cy="6857999"/>
          </a:xfrm>
        </p:grpSpPr>
        <p:sp>
          <p:nvSpPr>
            <p:cNvPr id="12" name="Rectangle 11"/>
            <p:cNvSpPr/>
            <p:nvPr/>
          </p:nvSpPr>
          <p:spPr>
            <a:xfrm>
              <a:off x="9729077" y="5627258"/>
              <a:ext cx="233679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b="1" cap="none" spc="0" dirty="0" smtClean="0">
                  <a:ln w="9525">
                    <a:noFill/>
                    <a:prstDash val="solid"/>
                  </a:ln>
                  <a:gradFill>
                    <a:gsLst>
                      <a:gs pos="34000">
                        <a:schemeClr val="accent5">
                          <a:lumMod val="50000"/>
                        </a:schemeClr>
                      </a:gs>
                      <a:gs pos="50000">
                        <a:schemeClr val="bg1"/>
                      </a:gs>
                      <a:gs pos="64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 scaled="0"/>
                  </a:gradFill>
                  <a:effectLst>
                    <a:outerShdw blurRad="12700" dist="38100" dir="2700000" algn="tl" rotWithShape="0">
                      <a:schemeClr val="accent5">
                        <a:lumMod val="60000"/>
                        <a:lumOff val="40000"/>
                      </a:schemeClr>
                    </a:outerShdw>
                  </a:effectLst>
                </a:rPr>
                <a:t>Together</a:t>
              </a:r>
              <a:endParaRPr lang="en-US" b="1" cap="none" spc="0" dirty="0">
                <a:ln w="9525">
                  <a:noFill/>
                  <a:prstDash val="solid"/>
                </a:ln>
                <a:gradFill>
                  <a:gsLst>
                    <a:gs pos="34000">
                      <a:schemeClr val="accent5">
                        <a:lumMod val="50000"/>
                      </a:schemeClr>
                    </a:gs>
                    <a:gs pos="50000">
                      <a:schemeClr val="bg1"/>
                    </a:gs>
                    <a:gs pos="64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144123" y="378373"/>
              <a:ext cx="3047877" cy="618630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endParaRPr lang="en-GB" sz="36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36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36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GB" sz="3600" b="1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endPos="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Background </a:t>
              </a:r>
            </a:p>
            <a:p>
              <a:pPr algn="ctr"/>
              <a:r>
                <a:rPr lang="en-GB" sz="3600" b="1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endPos="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and </a:t>
              </a:r>
            </a:p>
            <a:p>
              <a:pPr algn="ctr"/>
              <a:r>
                <a:rPr lang="en-GB" sz="3600" b="1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endPos="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</a:t>
              </a:r>
            </a:p>
            <a:p>
              <a:pPr algn="ctr"/>
              <a:r>
                <a:rPr lang="en-GB" sz="3600" b="1" dirty="0" smtClean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endPos="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</a:t>
              </a:r>
            </a:p>
            <a:p>
              <a:pPr algn="ctr"/>
              <a:endParaRPr lang="en-GB" sz="36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36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en-GB" sz="3600" b="1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9136380" y="2017986"/>
              <a:ext cx="3055620" cy="21721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136380" y="4864654"/>
              <a:ext cx="3055620" cy="211843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136380" y="0"/>
              <a:ext cx="102870" cy="685799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0717" y="425668"/>
            <a:ext cx="8529145" cy="1312479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Modern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media-sharing platforms must support rapid growth in users and content volume while maintaining acceptable performance and availability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168165" y="1923392"/>
            <a:ext cx="8529145" cy="259999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web applications, often implemented as monolithic systems, struggle to scale effectively due to tightly coupled components and reliance on single-node resources. As user demand increases, such systems experience degraded performance, service outages, and increased operational costs (Newman, 2015</a:t>
            </a:r>
            <a:r>
              <a:rPr lang="en-GB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273268" y="4635062"/>
            <a:ext cx="8529145" cy="178150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addresses the challenge of designing a scalable architecture for a photo and video distribution platform that supports both content creators and consumers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0" y="0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EFA08948-2B6F-46B1-9D2D-8D7B2B3FBD5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4827" y="877245"/>
            <a:ext cx="9254360" cy="3757817"/>
          </a:xfrm>
        </p:spPr>
        <p:txBody>
          <a:bodyPr/>
          <a:lstStyle/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73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GB" sz="27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growth:</a:t>
            </a:r>
            <a:r>
              <a:rPr lang="en-GB" sz="2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files increase rapidly and exceed local filesystem </a:t>
            </a:r>
            <a:r>
              <a:rPr lang="en-GB" sz="273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limits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7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Concurrency:</a:t>
            </a:r>
            <a:r>
              <a:rPr lang="en-GB" sz="2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File-based databases (e.g. SQLite) suffer from locking under concurrent access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7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GB" sz="2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Serving large media directly from application servers creates bandwidth bottlenecks</a:t>
            </a:r>
          </a:p>
          <a:p>
            <a:pPr lvl="0"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73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</a:t>
            </a:r>
            <a:r>
              <a:rPr lang="en-GB" sz="2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Single-instance deployment introduces a single point of failure</a:t>
            </a:r>
          </a:p>
          <a:p>
            <a:pPr lvl="0" algn="just">
              <a:lnSpc>
                <a:spcPct val="100000"/>
              </a:lnSpc>
            </a:pPr>
            <a:endParaRPr lang="en-GB" sz="27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0"/>
            <a:ext cx="3055620" cy="6857999"/>
            <a:chOff x="0" y="0"/>
            <a:chExt cx="3055620" cy="6857999"/>
          </a:xfrm>
        </p:grpSpPr>
        <p:sp>
          <p:nvSpPr>
            <p:cNvPr id="10" name="Rectangle 9"/>
            <p:cNvSpPr/>
            <p:nvPr/>
          </p:nvSpPr>
          <p:spPr>
            <a:xfrm>
              <a:off x="0" y="4682360"/>
              <a:ext cx="3055620" cy="21721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6299317"/>
              <a:ext cx="3055620" cy="211843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0" y="0"/>
              <a:ext cx="102870" cy="6857999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283779" y="5044966"/>
              <a:ext cx="2601311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n w="0"/>
                  <a:gradFill>
                    <a:gsLst>
                      <a:gs pos="0">
                        <a:schemeClr val="accent5">
                          <a:lumMod val="50000"/>
                        </a:schemeClr>
                      </a:gs>
                      <a:gs pos="50000">
                        <a:schemeClr val="accent5"/>
                      </a:gs>
                      <a:gs pos="100000">
                        <a:schemeClr val="accent5">
                          <a:lumMod val="60000"/>
                          <a:lumOff val="40000"/>
                        </a:schemeClr>
                      </a:gs>
                    </a:gsLst>
                    <a:lin ang="5400000"/>
                  </a:gradFill>
                  <a:effectLst>
                    <a:reflection endPos="0" dist="50800" dir="5400000" sy="-100000" algn="bl" rotWithShape="0"/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Scalability Challenges in Media Platforms</a:t>
              </a:r>
              <a:endParaRPr lang="en-GB" sz="2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endPos="0" dist="508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GB" sz="2400" dirty="0"/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2752959" y="288665"/>
            <a:ext cx="9306911" cy="4838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2730" dirty="0"/>
              <a:t>Media-centric applications face unique scalability constraints:</a:t>
            </a:r>
            <a:endParaRPr lang="en-GB" sz="2730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="" xmlns:a16="http://schemas.microsoft.com/office/drawing/2014/main" id="{D355C61F-C8F1-4977-8E1F-F16C0D9EA88C}"/>
              </a:ext>
            </a:extLst>
          </p:cNvPr>
          <p:cNvSpPr txBox="1">
            <a:spLocks/>
          </p:cNvSpPr>
          <p:nvPr/>
        </p:nvSpPr>
        <p:spPr>
          <a:xfrm>
            <a:off x="3384330" y="4950372"/>
            <a:ext cx="8807670" cy="137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2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indicates that such limitations necessitate distributed, cloud-native architectures to ensure elasticity and resilience (</a:t>
            </a:r>
            <a:r>
              <a:rPr lang="en-GB" sz="27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Dragoni</a:t>
            </a:r>
            <a:r>
              <a:rPr lang="en-GB" sz="27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2017).</a:t>
            </a:r>
            <a:endParaRPr lang="en-GB" sz="27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Download Free Challenges Icons in PNG &amp; 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14" y="1988457"/>
            <a:ext cx="2129518" cy="212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Desk with computer, phone, books, etc.">
            <a:extLst>
              <a:ext uri="{FF2B5EF4-FFF2-40B4-BE49-F238E27FC236}">
                <a16:creationId xmlns=""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14" y="15766"/>
            <a:ext cx="9780588" cy="6371351"/>
          </a:xfrm>
        </p:spPr>
      </p:pic>
      <p:sp>
        <p:nvSpPr>
          <p:cNvPr id="7" name="Rectangle 6"/>
          <p:cNvSpPr/>
          <p:nvPr/>
        </p:nvSpPr>
        <p:spPr>
          <a:xfrm>
            <a:off x="9804400" y="0"/>
            <a:ext cx="23876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9143997" y="2218268"/>
            <a:ext cx="2387600" cy="2133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8170" y="2450485"/>
            <a:ext cx="2873829" cy="1230993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Design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435" y="266701"/>
            <a:ext cx="8938078" cy="6248400"/>
          </a:xfrm>
          <a:solidFill>
            <a:schemeClr val="bg1">
              <a:alpha val="80000"/>
            </a:schemeClr>
          </a:solidFill>
        </p:spPr>
        <p:txBody>
          <a:bodyPr/>
          <a:lstStyle/>
          <a:p>
            <a:pPr algn="l">
              <a:lnSpc>
                <a:spcPct val="100000"/>
              </a:lnSpc>
            </a:pPr>
            <a:endParaRPr lang="en-GB" sz="2800" dirty="0" smtClean="0">
              <a:solidFill>
                <a:schemeClr val="tx1"/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GB" sz="2800" dirty="0" smtClean="0">
                <a:solidFill>
                  <a:schemeClr val="tx1"/>
                </a:solidFill>
              </a:rPr>
              <a:t>The </a:t>
            </a:r>
            <a:r>
              <a:rPr lang="en-GB" sz="2800" dirty="0">
                <a:solidFill>
                  <a:schemeClr val="tx1"/>
                </a:solidFill>
              </a:rPr>
              <a:t>primary design objectives of this project are:</a:t>
            </a:r>
          </a:p>
          <a:p>
            <a:pPr marL="457200" lvl="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To support </a:t>
            </a:r>
            <a:r>
              <a:rPr lang="en-GB" sz="2800" b="1" dirty="0">
                <a:solidFill>
                  <a:schemeClr val="tx1"/>
                </a:solidFill>
              </a:rPr>
              <a:t>scalable storage</a:t>
            </a:r>
            <a:r>
              <a:rPr lang="en-GB" sz="2800" dirty="0">
                <a:solidFill>
                  <a:schemeClr val="tx1"/>
                </a:solidFill>
              </a:rPr>
              <a:t> for unbounded media uploads</a:t>
            </a:r>
          </a:p>
          <a:p>
            <a:pPr marL="457200" lvl="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To enable </a:t>
            </a:r>
            <a:r>
              <a:rPr lang="en-GB" sz="2800" b="1" dirty="0">
                <a:solidFill>
                  <a:schemeClr val="tx1"/>
                </a:solidFill>
              </a:rPr>
              <a:t>horizontal scalability</a:t>
            </a:r>
            <a:r>
              <a:rPr lang="en-GB" sz="2800" dirty="0">
                <a:solidFill>
                  <a:schemeClr val="tx1"/>
                </a:solidFill>
              </a:rPr>
              <a:t> of backend services</a:t>
            </a:r>
          </a:p>
          <a:p>
            <a:pPr marL="457200" lvl="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To decouple application logic from media delivery</a:t>
            </a:r>
          </a:p>
          <a:p>
            <a:pPr marL="457200" lvl="0" indent="-457200"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</a:rPr>
              <a:t>To provide a </a:t>
            </a:r>
            <a:r>
              <a:rPr lang="en-GB" sz="2800" b="1" dirty="0">
                <a:solidFill>
                  <a:schemeClr val="tx1"/>
                </a:solidFill>
              </a:rPr>
              <a:t>clear migration path</a:t>
            </a:r>
            <a:r>
              <a:rPr lang="en-GB" sz="2800" dirty="0">
                <a:solidFill>
                  <a:schemeClr val="tx1"/>
                </a:solidFill>
              </a:rPr>
              <a:t> from development to production cloud deployment</a:t>
            </a:r>
          </a:p>
          <a:p>
            <a:pPr algn="l">
              <a:lnSpc>
                <a:spcPct val="100000"/>
              </a:lnSpc>
            </a:pPr>
            <a:r>
              <a:rPr lang="en-GB" sz="2800" dirty="0">
                <a:solidFill>
                  <a:schemeClr val="tx1"/>
                </a:solidFill>
              </a:rPr>
              <a:t>These objectives align with established cloud-native design principles emphasising loose coupling, stateless </a:t>
            </a:r>
            <a:r>
              <a:rPr lang="en-GB" sz="2800" dirty="0" smtClean="0">
                <a:solidFill>
                  <a:schemeClr val="tx1"/>
                </a:solidFill>
              </a:rPr>
              <a:t>services </a:t>
            </a:r>
            <a:r>
              <a:rPr lang="en-GB" sz="2800" dirty="0">
                <a:solidFill>
                  <a:schemeClr val="tx1"/>
                </a:solidFill>
              </a:rPr>
              <a:t>and managed infrastructure (</a:t>
            </a:r>
            <a:r>
              <a:rPr lang="en-GB" sz="2800" dirty="0" err="1">
                <a:solidFill>
                  <a:schemeClr val="tx1"/>
                </a:solidFill>
              </a:rPr>
              <a:t>Pahl</a:t>
            </a:r>
            <a:r>
              <a:rPr lang="en-GB" sz="2800" dirty="0">
                <a:solidFill>
                  <a:schemeClr val="tx1"/>
                </a:solidFill>
              </a:rPr>
              <a:t>, 2015</a:t>
            </a:r>
            <a:r>
              <a:rPr lang="en-GB" sz="2800" dirty="0" smtClean="0">
                <a:solidFill>
                  <a:schemeClr val="tx1"/>
                </a:solidFill>
              </a:rPr>
              <a:t>).</a:t>
            </a:r>
          </a:p>
          <a:p>
            <a:pPr marL="457200" indent="-457200" algn="l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304020" y="3447433"/>
            <a:ext cx="2887980" cy="65768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9797143" y="3451971"/>
            <a:ext cx="2260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>
                <a:solidFill>
                  <a:srgbClr val="FFFF00"/>
                </a:solidFill>
              </a:rPr>
              <a:t>Objectives</a:t>
            </a:r>
            <a:endParaRPr lang="en-GB" sz="3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3" descr="Hand writing on post-it note">
            <a:extLst>
              <a:ext uri="{FF2B5EF4-FFF2-40B4-BE49-F238E27FC236}">
                <a16:creationId xmlns="" xmlns:a16="http://schemas.microsoft.com/office/drawing/2014/main" id="{7E468295-904F-0743-AD06-67DA21353B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8581"/>
          <a:stretch/>
        </p:blipFill>
        <p:spPr>
          <a:xfrm>
            <a:off x="9277350" y="0"/>
            <a:ext cx="3105150" cy="637135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9277350" y="2362200"/>
            <a:ext cx="3105150" cy="15811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5975" y="2505075"/>
            <a:ext cx="2247900" cy="129540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FF00"/>
                </a:solidFill>
              </a:rPr>
              <a:t>Target System </a:t>
            </a:r>
            <a:r>
              <a:rPr lang="en-GB" dirty="0" smtClean="0">
                <a:solidFill>
                  <a:srgbClr val="FFFF00"/>
                </a:solidFill>
              </a:rPr>
              <a:t>Architecture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8667" y="228600"/>
            <a:ext cx="8534400" cy="453600"/>
          </a:xfrm>
        </p:spPr>
        <p:txBody>
          <a:bodyPr/>
          <a:lstStyle/>
          <a:p>
            <a:pPr algn="just"/>
            <a:r>
              <a:rPr lang="en-GB" sz="2600" dirty="0"/>
              <a:t>The proposed system adopts a cloud-native, service-oriented architecture consisting of: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F65E93D-09FF-42EE-B9DD-75063896668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4483" y="1169140"/>
            <a:ext cx="8565950" cy="3792327"/>
          </a:xfrm>
        </p:spPr>
        <p:txBody>
          <a:bodyPr/>
          <a:lstStyle/>
          <a:p>
            <a:pPr lvl="0" algn="just"/>
            <a:r>
              <a:rPr lang="en-GB" sz="2600" b="1" dirty="0" smtClean="0"/>
              <a:t>Frontend</a:t>
            </a:r>
            <a:r>
              <a:rPr lang="en-GB" sz="2600" b="1" dirty="0"/>
              <a:t>:</a:t>
            </a:r>
            <a:r>
              <a:rPr lang="en-GB" sz="2600" dirty="0"/>
              <a:t> Static web interface served via CDN</a:t>
            </a:r>
          </a:p>
          <a:p>
            <a:pPr lvl="0" algn="just"/>
            <a:r>
              <a:rPr lang="en-GB" sz="2600" b="1" dirty="0"/>
              <a:t>Backend:</a:t>
            </a:r>
            <a:r>
              <a:rPr lang="en-GB" sz="2600" dirty="0"/>
              <a:t> RESTful API built with Flask, designed to be stateless</a:t>
            </a:r>
          </a:p>
          <a:p>
            <a:pPr lvl="0" algn="just"/>
            <a:r>
              <a:rPr lang="en-GB" sz="2600" b="1" dirty="0"/>
              <a:t>Media Storage:</a:t>
            </a:r>
            <a:r>
              <a:rPr lang="en-GB" sz="2600" dirty="0"/>
              <a:t> Object storage </a:t>
            </a:r>
            <a:r>
              <a:rPr lang="en-GB" sz="2600" dirty="0" smtClean="0"/>
              <a:t>service</a:t>
            </a:r>
            <a:endParaRPr lang="en-GB" sz="2600" dirty="0"/>
          </a:p>
          <a:p>
            <a:pPr lvl="0" algn="just"/>
            <a:r>
              <a:rPr lang="en-GB" sz="2600" b="1" dirty="0"/>
              <a:t>Database:</a:t>
            </a:r>
            <a:r>
              <a:rPr lang="en-GB" sz="2600" dirty="0"/>
              <a:t> Managed </a:t>
            </a:r>
            <a:r>
              <a:rPr lang="en-GB" sz="2600" dirty="0" smtClean="0"/>
              <a:t>relational database</a:t>
            </a:r>
            <a:endParaRPr lang="en-GB" sz="2600" dirty="0"/>
          </a:p>
          <a:p>
            <a:pPr lvl="0" algn="just"/>
            <a:r>
              <a:rPr lang="en-GB" sz="2600" b="1" dirty="0"/>
              <a:t>Authentication:</a:t>
            </a:r>
            <a:r>
              <a:rPr lang="en-GB" sz="2600" dirty="0"/>
              <a:t> Role-based access control via identity services</a:t>
            </a:r>
          </a:p>
          <a:p>
            <a:pPr lvl="0" algn="just"/>
            <a:r>
              <a:rPr lang="en-GB" sz="2600" b="1" dirty="0"/>
              <a:t>Scalability Layer:</a:t>
            </a:r>
            <a:r>
              <a:rPr lang="en-GB" sz="2600" dirty="0"/>
              <a:t> Load </a:t>
            </a:r>
            <a:r>
              <a:rPr lang="en-GB" sz="2600" dirty="0" smtClean="0"/>
              <a:t>balancing</a:t>
            </a:r>
            <a:endParaRPr lang="en-GB" sz="2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5A563457-1EC8-4978-BCCB-AFD88C9ED0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A7CD04AE-9A8B-4DED-855D-F51B510D0B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937" y="4998514"/>
            <a:ext cx="8819463" cy="1114424"/>
          </a:xfrm>
        </p:spPr>
        <p:txBody>
          <a:bodyPr/>
          <a:lstStyle/>
          <a:p>
            <a:pPr marL="0" indent="0" algn="just">
              <a:buNone/>
            </a:pPr>
            <a:r>
              <a:rPr lang="en-GB" sz="2600" dirty="0"/>
              <a:t>This architectural separation enables independent scaling of components and improves fault tolerance (Burns and Oppenheimer, 2016)</a:t>
            </a:r>
            <a:endParaRPr lang="en-US" sz="26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9855201" y="6399768"/>
            <a:ext cx="233679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9525">
                  <a:noFill/>
                  <a:prstDash val="solid"/>
                </a:ln>
                <a:gradFill>
                  <a:gsLst>
                    <a:gs pos="34000">
                      <a:schemeClr val="accent5">
                        <a:lumMod val="50000"/>
                      </a:schemeClr>
                    </a:gs>
                    <a:gs pos="50000">
                      <a:schemeClr val="bg1"/>
                    </a:gs>
                    <a:gs pos="64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Together</a:t>
            </a:r>
            <a:endParaRPr lang="en-US" b="1" cap="none" spc="0" dirty="0">
              <a:ln w="9525">
                <a:noFill/>
                <a:prstDash val="solid"/>
              </a:ln>
              <a:gradFill>
                <a:gsLst>
                  <a:gs pos="34000">
                    <a:schemeClr val="accent5">
                      <a:lumMod val="50000"/>
                    </a:schemeClr>
                  </a:gs>
                  <a:gs pos="50000">
                    <a:schemeClr val="bg1"/>
                  </a:gs>
                  <a:gs pos="64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0" y="0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02870" cy="68579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" name="Group 3"/>
          <p:cNvGrpSpPr/>
          <p:nvPr/>
        </p:nvGrpSpPr>
        <p:grpSpPr>
          <a:xfrm>
            <a:off x="0" y="504498"/>
            <a:ext cx="3326524" cy="1828800"/>
            <a:chOff x="0" y="4682360"/>
            <a:chExt cx="3326524" cy="1828800"/>
          </a:xfrm>
        </p:grpSpPr>
        <p:sp>
          <p:nvSpPr>
            <p:cNvPr id="9" name="Rectangle 8"/>
            <p:cNvSpPr/>
            <p:nvPr/>
          </p:nvSpPr>
          <p:spPr>
            <a:xfrm>
              <a:off x="0" y="4682360"/>
              <a:ext cx="3055620" cy="21721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6299317"/>
              <a:ext cx="3055620" cy="211843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6124" y="5076497"/>
              <a:ext cx="32004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Flow and Scalability Patterns</a:t>
              </a:r>
            </a:p>
            <a:p>
              <a:endParaRPr lang="en-GB" sz="2400" dirty="0"/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3904344" y="2598057"/>
            <a:ext cx="7626506" cy="4005943"/>
            <a:chOff x="2598058" y="2656114"/>
            <a:chExt cx="7626506" cy="4005943"/>
          </a:xfrm>
        </p:grpSpPr>
        <p:grpSp>
          <p:nvGrpSpPr>
            <p:cNvPr id="37" name="Group 36"/>
            <p:cNvGrpSpPr/>
            <p:nvPr/>
          </p:nvGrpSpPr>
          <p:grpSpPr>
            <a:xfrm>
              <a:off x="5171088" y="4055990"/>
              <a:ext cx="5053476" cy="1408637"/>
              <a:chOff x="4666592" y="2785857"/>
              <a:chExt cx="4177863" cy="108006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4666592" y="2785857"/>
                <a:ext cx="4177863" cy="835573"/>
              </a:xfrm>
              <a:prstGeom prst="rect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725889" y="2942587"/>
                <a:ext cx="400444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n-GB" dirty="0">
                    <a:solidFill>
                      <a:srgbClr val="FFFF00"/>
                    </a:solidFill>
                  </a:rPr>
                  <a:t>Consumers retrieve media via CDN-accelerated object storage</a:t>
                </a:r>
              </a:p>
              <a:p>
                <a:pPr algn="just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5" name="Straight Arrow Connector 34"/>
            <p:cNvCxnSpPr/>
            <p:nvPr/>
          </p:nvCxnSpPr>
          <p:spPr>
            <a:xfrm>
              <a:off x="3862516" y="3430841"/>
              <a:ext cx="9090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/>
            <p:cNvGrpSpPr/>
            <p:nvPr/>
          </p:nvGrpSpPr>
          <p:grpSpPr>
            <a:xfrm>
              <a:off x="2598058" y="2656114"/>
              <a:ext cx="1364341" cy="1237509"/>
              <a:chOff x="2391103" y="3009297"/>
              <a:chExt cx="1282261" cy="1278134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2391103" y="3825766"/>
                <a:ext cx="128226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n-GB" sz="2400" dirty="0" smtClean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Creators</a:t>
                </a:r>
                <a:endParaRPr lang="en-GB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26" name="Picture 2" descr="Create account - Free user icons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67698" y="3009297"/>
                <a:ext cx="1011074" cy="101107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 39"/>
            <p:cNvGrpSpPr/>
            <p:nvPr/>
          </p:nvGrpSpPr>
          <p:grpSpPr>
            <a:xfrm>
              <a:off x="5152569" y="2786242"/>
              <a:ext cx="5053476" cy="1307037"/>
              <a:chOff x="4666592" y="2963917"/>
              <a:chExt cx="4177863" cy="1002159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4666592" y="2963917"/>
                <a:ext cx="4177863" cy="835573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4713890" y="3042746"/>
                <a:ext cx="400444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n-GB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Creators upload content through the API, with metadata stored in the database</a:t>
                </a:r>
              </a:p>
              <a:p>
                <a:pPr algn="just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5150067" y="5355020"/>
              <a:ext cx="5053476" cy="1307037"/>
              <a:chOff x="4666592" y="2963917"/>
              <a:chExt cx="4177863" cy="1002159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4666592" y="2963917"/>
                <a:ext cx="4177863" cy="835573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chemeClr val="tx2"/>
                  </a:solidFill>
                </a:endParaRP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4713890" y="3042746"/>
                <a:ext cx="400444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/>
                <a:r>
                  <a:rPr lang="en-GB" dirty="0">
                    <a:solidFill>
                      <a:srgbClr val="002060"/>
                    </a:solidFill>
                  </a:rPr>
                  <a:t>Backend services remain stateless, allowing </a:t>
                </a:r>
                <a:r>
                  <a:rPr lang="en-GB" dirty="0" err="1">
                    <a:solidFill>
                      <a:srgbClr val="002060"/>
                    </a:solidFill>
                  </a:rPr>
                  <a:t>replicationD</a:t>
                </a:r>
                <a:endParaRPr lang="en-GB" dirty="0">
                  <a:solidFill>
                    <a:srgbClr val="002060"/>
                  </a:solidFill>
                </a:endParaRPr>
              </a:p>
              <a:p>
                <a:pPr algn="just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48" name="Straight Arrow Connector 47"/>
            <p:cNvCxnSpPr/>
            <p:nvPr/>
          </p:nvCxnSpPr>
          <p:spPr>
            <a:xfrm>
              <a:off x="3825730" y="5772896"/>
              <a:ext cx="9090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3825730" y="4642596"/>
              <a:ext cx="90903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/>
            <p:cNvGrpSpPr/>
            <p:nvPr/>
          </p:nvGrpSpPr>
          <p:grpSpPr>
            <a:xfrm>
              <a:off x="2634343" y="4093027"/>
              <a:ext cx="1211943" cy="1153493"/>
              <a:chOff x="2590800" y="4225325"/>
              <a:chExt cx="1196340" cy="1005567"/>
            </a:xfrm>
          </p:grpSpPr>
          <p:pic>
            <p:nvPicPr>
              <p:cNvPr id="1030" name="Picture 6" descr="Consumer - Free user icons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90498" y="4225325"/>
                <a:ext cx="662151" cy="6621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6" name="TextBox 45"/>
              <p:cNvSpPr txBox="1"/>
              <p:nvPr/>
            </p:nvSpPr>
            <p:spPr>
              <a:xfrm>
                <a:off x="2590800" y="4861560"/>
                <a:ext cx="11963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Consumer</a:t>
                </a:r>
                <a:endParaRPr lang="en-GB" dirty="0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598419" y="5394325"/>
              <a:ext cx="1281167" cy="1198065"/>
              <a:chOff x="2598420" y="5394326"/>
              <a:chExt cx="1059180" cy="918606"/>
            </a:xfrm>
          </p:grpSpPr>
          <p:pic>
            <p:nvPicPr>
              <p:cNvPr id="1034" name="Picture 10" descr="Backend Icon by Flat Icons – download in PNG, SV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4365" y="5394326"/>
                <a:ext cx="619014" cy="6190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4" name="TextBox 53"/>
              <p:cNvSpPr txBox="1"/>
              <p:nvPr/>
            </p:nvSpPr>
            <p:spPr>
              <a:xfrm>
                <a:off x="2598420" y="5943600"/>
                <a:ext cx="10591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 smtClean="0"/>
                  <a:t>Backend</a:t>
                </a:r>
                <a:endParaRPr lang="en-GB" dirty="0"/>
              </a:p>
            </p:txBody>
          </p:sp>
        </p:grpSp>
      </p:grpSp>
      <p:sp>
        <p:nvSpPr>
          <p:cNvPr id="15" name="Text Placeholder 9">
            <a:extLst>
              <a:ext uri="{FF2B5EF4-FFF2-40B4-BE49-F238E27FC236}">
                <a16:creationId xmlns="" xmlns:a16="http://schemas.microsoft.com/office/drawing/2014/main" id="{2972F17A-D965-40B9-8ABB-C634072DBCC0}"/>
              </a:ext>
            </a:extLst>
          </p:cNvPr>
          <p:cNvSpPr txBox="1">
            <a:spLocks/>
          </p:cNvSpPr>
          <p:nvPr/>
        </p:nvSpPr>
        <p:spPr>
          <a:xfrm>
            <a:off x="3606719" y="517257"/>
            <a:ext cx="7627338" cy="1688914"/>
          </a:xfrm>
          <a:prstGeom prst="rect">
            <a:avLst/>
          </a:prstGeom>
          <a:noFill/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 achieved using principles from the Scale Cube model, particularly horizontal replication and functional decomposition (Newman, 2015).</a:t>
            </a:r>
            <a:endParaRPr lang="en-GB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6" name="Picture 12" descr="Data flow - Free interface icon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915" y="3120571"/>
            <a:ext cx="2640013" cy="264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12" name="Pentagon 11"/>
          <p:cNvSpPr/>
          <p:nvPr/>
        </p:nvSpPr>
        <p:spPr>
          <a:xfrm>
            <a:off x="0" y="188686"/>
            <a:ext cx="7620000" cy="957943"/>
          </a:xfrm>
          <a:prstGeom prst="homePlate">
            <a:avLst>
              <a:gd name="adj" fmla="val 1708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362" y="373947"/>
            <a:ext cx="5821237" cy="432000"/>
          </a:xfrm>
        </p:spPr>
        <p:txBody>
          <a:bodyPr/>
          <a:lstStyle/>
          <a:p>
            <a:pPr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kern="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 Selection and Rationale</a:t>
            </a:r>
            <a:endParaRPr lang="en-GB" kern="0" dirty="0">
              <a:solidFill>
                <a:srgbClr val="FFFF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6058" y="1305077"/>
            <a:ext cx="10392228" cy="494694"/>
          </a:xfrm>
          <a:noFill/>
        </p:spPr>
        <p:txBody>
          <a:bodyPr/>
          <a:lstStyle/>
          <a:p>
            <a:pPr algn="just"/>
            <a:r>
              <a:rPr lang="en-GB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Key 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technologies were selected based on scalability, simplicity, and cloud readiness</a:t>
            </a:r>
            <a:r>
              <a:rPr lang="en-GB" sz="24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Text Placeholder 2">
            <a:extLst>
              <a:ext uri="{FF2B5EF4-FFF2-40B4-BE49-F238E27FC236}">
                <a16:creationId xmlns="" xmlns:a16="http://schemas.microsoft.com/office/drawing/2014/main" id="{DE9D0F75-42B5-4960-8C3A-291285872DAF}"/>
              </a:ext>
            </a:extLst>
          </p:cNvPr>
          <p:cNvSpPr txBox="1">
            <a:spLocks/>
          </p:cNvSpPr>
          <p:nvPr/>
        </p:nvSpPr>
        <p:spPr>
          <a:xfrm>
            <a:off x="529772" y="1770744"/>
            <a:ext cx="7670799" cy="480422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66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29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9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763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Flask (Backend):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Lightweight framework suitable for REST APIs and containerisation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Static Frontend Hosting: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Reduces backend load and improves performance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Object Storage: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Provides virtually unlimited scalability and durability</a:t>
            </a:r>
          </a:p>
          <a:p>
            <a:pPr marL="342900" lvl="0" indent="-342900" algn="just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Managed Databases: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Support concurrent access and automated maintenance</a:t>
            </a:r>
          </a:p>
          <a:p>
            <a:pPr algn="just"/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Such technology choices are consistent with best practices in cloud-native system design (</a:t>
            </a:r>
            <a:r>
              <a:rPr lang="en-GB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Pahl</a:t>
            </a:r>
            <a:r>
              <a:rPr lang="en-GB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2015).</a:t>
            </a:r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074" name="Picture 2" descr="Technology - Free technology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6090" y="2481943"/>
            <a:ext cx="3148012" cy="314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0" y="0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0" y="116114"/>
            <a:ext cx="5520267" cy="62411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279600" y="157680"/>
            <a:ext cx="4844193" cy="432000"/>
          </a:xfrm>
        </p:spPr>
        <p:txBody>
          <a:bodyPr/>
          <a:lstStyle/>
          <a:p>
            <a:r>
              <a:rPr lang="en-GB" sz="3600" dirty="0">
                <a:solidFill>
                  <a:srgbClr val="FFFF00"/>
                </a:solidFill>
              </a:rPr>
              <a:t>Implementation Overview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2"/>
          </p:nvPr>
        </p:nvSpPr>
        <p:spPr>
          <a:xfrm>
            <a:off x="5747659" y="304802"/>
            <a:ext cx="5094514" cy="368933"/>
          </a:xfrm>
        </p:spPr>
        <p:txBody>
          <a:bodyPr/>
          <a:lstStyle/>
          <a:p>
            <a:r>
              <a:rPr lang="en-GB" sz="2400" dirty="0"/>
              <a:t>The current implementation includes:</a:t>
            </a:r>
          </a:p>
          <a:p>
            <a:endParaRPr lang="en-GB" sz="2400" dirty="0"/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1077885" y="1671658"/>
            <a:ext cx="2652286" cy="1214267"/>
          </a:xfrm>
        </p:spPr>
        <p:txBody>
          <a:bodyPr/>
          <a:lstStyle/>
          <a:p>
            <a:pPr marL="0" lvl="0" indent="0" algn="ctr">
              <a:buNone/>
            </a:pPr>
            <a:r>
              <a:rPr lang="en-GB" sz="2400" dirty="0"/>
              <a:t>Creator media upload with metadata handling</a:t>
            </a:r>
          </a:p>
          <a:p>
            <a:endParaRPr lang="en-GB" sz="24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762000" y="5525200"/>
            <a:ext cx="10854266" cy="926400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dirty="0" smtClean="0"/>
              <a:t>This </a:t>
            </a:r>
            <a:r>
              <a:rPr lang="en-GB" sz="2400" dirty="0"/>
              <a:t>implementation functions as a development prototype, enabling validation of core functionality prior to cloud deployment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4764993" y="1903885"/>
            <a:ext cx="2680836" cy="781257"/>
          </a:xfrm>
        </p:spPr>
        <p:txBody>
          <a:bodyPr/>
          <a:lstStyle/>
          <a:p>
            <a:pPr marL="0" lvl="0" indent="0" algn="ctr">
              <a:buNone/>
            </a:pPr>
            <a:r>
              <a:rPr lang="en-GB" sz="2400" dirty="0"/>
              <a:t>Consumer browsing </a:t>
            </a:r>
            <a:r>
              <a:rPr lang="en-GB" sz="2400" dirty="0" smtClean="0"/>
              <a:t>functionality</a:t>
            </a:r>
            <a:endParaRPr lang="en-GB" sz="2400" dirty="0"/>
          </a:p>
          <a:p>
            <a:endParaRPr lang="en-GB" sz="240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516259" y="1696220"/>
            <a:ext cx="2732311" cy="1076009"/>
          </a:xfrm>
        </p:spPr>
        <p:txBody>
          <a:bodyPr/>
          <a:lstStyle/>
          <a:p>
            <a:pPr marL="0" lvl="0" indent="0" algn="ctr">
              <a:buNone/>
            </a:pPr>
            <a:r>
              <a:rPr lang="en-GB" sz="2400" dirty="0"/>
              <a:t>Session-based authentication with role separation</a:t>
            </a:r>
          </a:p>
          <a:p>
            <a:pPr algn="ctr"/>
            <a:endParaRPr lang="en-GB" sz="2400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194628" y="3647907"/>
            <a:ext cx="3614057" cy="1127293"/>
          </a:xfrm>
        </p:spPr>
        <p:txBody>
          <a:bodyPr/>
          <a:lstStyle/>
          <a:p>
            <a:pPr marL="0" lvl="0" indent="0" algn="ctr">
              <a:buNone/>
            </a:pPr>
            <a:r>
              <a:rPr lang="en-GB" sz="2400" dirty="0"/>
              <a:t>Persistent storage using SQLite (development environment)</a:t>
            </a:r>
          </a:p>
          <a:p>
            <a:endParaRPr lang="en-GB" sz="2400" dirty="0"/>
          </a:p>
        </p:txBody>
      </p:sp>
      <p:sp>
        <p:nvSpPr>
          <p:cNvPr id="22" name="Text Placeholder 17"/>
          <p:cNvSpPr txBox="1">
            <a:spLocks/>
          </p:cNvSpPr>
          <p:nvPr/>
        </p:nvSpPr>
        <p:spPr>
          <a:xfrm>
            <a:off x="914400" y="3357732"/>
            <a:ext cx="2917371" cy="144649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GB" sz="2400" dirty="0"/>
              <a:t>Local filesystem storage for media (development environment)</a:t>
            </a:r>
          </a:p>
          <a:p>
            <a:endParaRPr lang="en-GB" sz="2400" dirty="0"/>
          </a:p>
        </p:txBody>
      </p:sp>
      <p:sp>
        <p:nvSpPr>
          <p:cNvPr id="23" name="Text Placeholder 17"/>
          <p:cNvSpPr txBox="1">
            <a:spLocks/>
          </p:cNvSpPr>
          <p:nvPr/>
        </p:nvSpPr>
        <p:spPr>
          <a:xfrm>
            <a:off x="8157030" y="3340801"/>
            <a:ext cx="3120570" cy="13618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GB" sz="2400" dirty="0"/>
              <a:t>Local filesystem storage for media (development environment)</a:t>
            </a:r>
          </a:p>
          <a:p>
            <a:pPr algn="ctr"/>
            <a:endParaRPr lang="en-GB" sz="2400" dirty="0"/>
          </a:p>
        </p:txBody>
      </p:sp>
      <p:sp>
        <p:nvSpPr>
          <p:cNvPr id="25" name="Rectangle 24"/>
          <p:cNvSpPr/>
          <p:nvPr/>
        </p:nvSpPr>
        <p:spPr>
          <a:xfrm>
            <a:off x="844550" y="2984596"/>
            <a:ext cx="10604500" cy="872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 flipH="1">
            <a:off x="798287" y="1335314"/>
            <a:ext cx="78013" cy="394788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/>
          <p:cNvSpPr/>
          <p:nvPr/>
        </p:nvSpPr>
        <p:spPr>
          <a:xfrm flipH="1">
            <a:off x="3935187" y="1335314"/>
            <a:ext cx="78013" cy="394788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/>
          <p:cNvSpPr/>
          <p:nvPr/>
        </p:nvSpPr>
        <p:spPr>
          <a:xfrm flipH="1">
            <a:off x="7973787" y="1335314"/>
            <a:ext cx="78013" cy="394788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 flipH="1">
            <a:off x="11411254" y="1335314"/>
            <a:ext cx="78013" cy="394788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/>
          <p:cNvSpPr/>
          <p:nvPr/>
        </p:nvSpPr>
        <p:spPr>
          <a:xfrm>
            <a:off x="876300" y="1342062"/>
            <a:ext cx="10572750" cy="872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/>
          <p:cNvSpPr/>
          <p:nvPr/>
        </p:nvSpPr>
        <p:spPr>
          <a:xfrm>
            <a:off x="831850" y="5193337"/>
            <a:ext cx="10617200" cy="8721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47297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3" name="Rectangle 32"/>
          <p:cNvSpPr/>
          <p:nvPr/>
        </p:nvSpPr>
        <p:spPr>
          <a:xfrm>
            <a:off x="0" y="1998133"/>
            <a:ext cx="2624667" cy="1998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27981" y="897466"/>
            <a:ext cx="2066876" cy="996080"/>
          </a:xfrm>
        </p:spPr>
        <p:txBody>
          <a:bodyPr/>
          <a:lstStyle/>
          <a:p>
            <a:pPr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sz="4000" kern="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</a:t>
            </a:r>
            <a:r>
              <a:rPr lang="en-GB" sz="4000" kern="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GB" sz="4000" kern="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2"/>
          </p:nvPr>
        </p:nvSpPr>
        <p:spPr>
          <a:xfrm>
            <a:off x="3200401" y="711203"/>
            <a:ext cx="8280400" cy="711198"/>
          </a:xfrm>
        </p:spPr>
        <p:txBody>
          <a:bodyPr/>
          <a:lstStyle/>
          <a:p>
            <a:pPr algn="just"/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 system incorporates several advanced features to enhance robustness and user experience:</a:t>
            </a:r>
          </a:p>
          <a:p>
            <a:pPr algn="just"/>
            <a:endParaRPr lang="en-GB" sz="28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3403604" y="1816796"/>
            <a:ext cx="8128001" cy="2772131"/>
          </a:xfrm>
        </p:spPr>
        <p:txBody>
          <a:bodyPr/>
          <a:lstStyle/>
          <a:p>
            <a:pPr lvl="0" algn="just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8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Authentication </a:t>
            </a:r>
            <a:r>
              <a:rPr lang="en-GB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and role management</a:t>
            </a: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for creators and consumers</a:t>
            </a:r>
          </a:p>
          <a:p>
            <a:pPr lvl="0" algn="just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Rate limiting</a:t>
            </a: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to prevent abuse and improve service </a:t>
            </a:r>
            <a:r>
              <a:rPr lang="en-GB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reliability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GB" sz="2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CI/CD pipeline (planned)</a:t>
            </a:r>
            <a:r>
              <a:rPr lang="en-GB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for automated testing and </a:t>
            </a:r>
            <a:r>
              <a:rPr lang="en-GB" sz="28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deployment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32"/>
          </p:nvPr>
        </p:nvSpPr>
        <p:spPr>
          <a:xfrm>
            <a:off x="3166533" y="4690540"/>
            <a:ext cx="8382000" cy="711198"/>
          </a:xfrm>
        </p:spPr>
        <p:txBody>
          <a:bodyPr/>
          <a:lstStyle/>
          <a:p>
            <a:pPr algn="just"/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 integration and delivery pipelines are widely recognised as critical for scalable and reliable software systems (</a:t>
            </a:r>
            <a:r>
              <a:rPr lang="en-GB" sz="2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Shahin</a:t>
            </a: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et al., 2017</a:t>
            </a:r>
            <a:r>
              <a:rPr lang="en-GB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  <a:endParaRPr lang="en-GB" sz="3200" dirty="0"/>
          </a:p>
        </p:txBody>
      </p:sp>
      <p:pic>
        <p:nvPicPr>
          <p:cNvPr id="5126" name="Picture 6" descr="Features, Icon in Line Design. Feature, Key Features, Special Features,  Product Feature, Service Feature, Advanced Stock Vector - Illustration of  communication, infographic: 35482197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2628"/>
            <a:ext cx="2989942" cy="298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0" y="355601"/>
            <a:ext cx="11988800" cy="152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010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9" grpId="0"/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47297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2" name="Rectangle 31"/>
          <p:cNvSpPr/>
          <p:nvPr/>
        </p:nvSpPr>
        <p:spPr>
          <a:xfrm>
            <a:off x="0" y="769258"/>
            <a:ext cx="2624667" cy="37737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0" y="1156305"/>
            <a:ext cx="2624667" cy="1998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94935" y="1681238"/>
            <a:ext cx="2192667" cy="996080"/>
          </a:xfrm>
        </p:spPr>
        <p:txBody>
          <a:bodyPr/>
          <a:lstStyle/>
          <a:p>
            <a:r>
              <a:rPr lang="en-GB" sz="4000" dirty="0"/>
              <a:t>Scalability Evaluation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32"/>
          </p:nvPr>
        </p:nvSpPr>
        <p:spPr>
          <a:xfrm>
            <a:off x="3200401" y="778937"/>
            <a:ext cx="8280400" cy="711198"/>
          </a:xfrm>
        </p:spPr>
        <p:txBody>
          <a:bodyPr/>
          <a:lstStyle/>
          <a:p>
            <a:r>
              <a:rPr lang="en-GB" sz="2800" b="1" dirty="0"/>
              <a:t>The system was evaluated conceptually under increasing load:</a:t>
            </a:r>
          </a:p>
          <a:p>
            <a:pPr algn="just"/>
            <a:endParaRPr lang="en-GB" sz="280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3403604" y="1986134"/>
            <a:ext cx="8128001" cy="2416531"/>
          </a:xfrm>
        </p:spPr>
        <p:txBody>
          <a:bodyPr/>
          <a:lstStyle/>
          <a:p>
            <a:pPr lvl="0"/>
            <a:r>
              <a:rPr lang="en-GB" sz="2800" b="1" dirty="0" smtClean="0"/>
              <a:t>10 </a:t>
            </a:r>
            <a:r>
              <a:rPr lang="en-GB" sz="2800" b="1" dirty="0"/>
              <a:t>users:</a:t>
            </a:r>
            <a:r>
              <a:rPr lang="en-GB" sz="2800" dirty="0"/>
              <a:t> System performs reliably</a:t>
            </a:r>
          </a:p>
          <a:p>
            <a:pPr lvl="0"/>
            <a:r>
              <a:rPr lang="en-GB" sz="2800" b="1" dirty="0"/>
              <a:t>1,000 users:</a:t>
            </a:r>
            <a:r>
              <a:rPr lang="en-GB" sz="2800" dirty="0"/>
              <a:t> Database locking and file serving latency emerge</a:t>
            </a:r>
          </a:p>
          <a:p>
            <a:pPr lvl="0"/>
            <a:r>
              <a:rPr lang="en-GB" sz="2800" b="1" dirty="0"/>
              <a:t>1,000,000 users:</a:t>
            </a:r>
            <a:r>
              <a:rPr lang="en-GB" sz="2800" dirty="0"/>
              <a:t> System fails without horizontal scaling and </a:t>
            </a:r>
            <a:r>
              <a:rPr lang="en-GB" sz="2800" dirty="0" err="1" smtClean="0"/>
              <a:t>distrbuted</a:t>
            </a:r>
            <a:r>
              <a:rPr lang="en-GB" sz="2800" dirty="0" smtClean="0"/>
              <a:t> storage</a:t>
            </a:r>
            <a:endParaRPr lang="en-GB" sz="2800" dirty="0"/>
          </a:p>
        </p:txBody>
      </p:sp>
      <p:sp>
        <p:nvSpPr>
          <p:cNvPr id="24" name="Text Placeholder 20"/>
          <p:cNvSpPr>
            <a:spLocks noGrp="1"/>
          </p:cNvSpPr>
          <p:nvPr>
            <p:ph type="body" sz="quarter" idx="32"/>
          </p:nvPr>
        </p:nvSpPr>
        <p:spPr>
          <a:xfrm>
            <a:off x="3166533" y="4622807"/>
            <a:ext cx="8382000" cy="711198"/>
          </a:xfrm>
        </p:spPr>
        <p:txBody>
          <a:bodyPr/>
          <a:lstStyle/>
          <a:p>
            <a:r>
              <a:rPr lang="en-GB" sz="2800" dirty="0"/>
              <a:t>This evaluation demonstrates the necessity of cloud-based services for sustained scalability and availability.</a:t>
            </a:r>
          </a:p>
        </p:txBody>
      </p:sp>
      <p:pic>
        <p:nvPicPr>
          <p:cNvPr id="6146" name="Picture 2" descr="Scalability - Free user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4329"/>
            <a:ext cx="2645682" cy="264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0" y="5711372"/>
            <a:ext cx="2624667" cy="37737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3423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2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12" name="Pentagon 11"/>
          <p:cNvSpPr/>
          <p:nvPr/>
        </p:nvSpPr>
        <p:spPr>
          <a:xfrm>
            <a:off x="0" y="457200"/>
            <a:ext cx="2901462" cy="1987062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883242913"/>
              </p:ext>
            </p:extLst>
          </p:nvPr>
        </p:nvGraphicFramePr>
        <p:xfrm>
          <a:off x="1331966" y="362298"/>
          <a:ext cx="9513277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073662" y="138927"/>
            <a:ext cx="3118338" cy="1056827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GB" sz="4000" dirty="0" smtClean="0">
                <a:solidFill>
                  <a:srgbClr val="FFFF00"/>
                </a:solidFill>
              </a:rPr>
              <a:t>Limitations</a:t>
            </a:r>
            <a:r>
              <a:rPr lang="en-GB" sz="4000" dirty="0">
                <a:solidFill>
                  <a:srgbClr val="FFFF00"/>
                </a:solidFill>
              </a:rPr>
              <a:t/>
            </a:r>
            <a:br>
              <a:rPr lang="en-GB" sz="4000" dirty="0">
                <a:solidFill>
                  <a:srgbClr val="FFFF00"/>
                </a:solidFill>
              </a:rPr>
            </a:br>
            <a:endParaRPr lang="en-GB" sz="4000" dirty="0">
              <a:solidFill>
                <a:srgbClr val="FFFF00"/>
              </a:solidFill>
            </a:endParaRP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4294967295"/>
          </p:nvPr>
        </p:nvSpPr>
        <p:spPr>
          <a:xfrm>
            <a:off x="498883" y="790003"/>
            <a:ext cx="2367410" cy="1372905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GB" sz="3200" b="1" dirty="0" smtClean="0">
                <a:solidFill>
                  <a:schemeClr val="bg1"/>
                </a:solidFill>
              </a:rPr>
              <a:t>Current </a:t>
            </a:r>
            <a:r>
              <a:rPr lang="en-GB" sz="3200" b="1" dirty="0">
                <a:solidFill>
                  <a:schemeClr val="bg1"/>
                </a:solidFill>
              </a:rPr>
              <a:t>limitations </a:t>
            </a:r>
            <a:r>
              <a:rPr lang="en-GB" sz="3200" b="1" dirty="0" smtClean="0">
                <a:solidFill>
                  <a:schemeClr val="bg1"/>
                </a:solidFill>
              </a:rPr>
              <a:t>include</a:t>
            </a:r>
            <a:endParaRPr lang="en-GB" sz="32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1887" y="3700112"/>
            <a:ext cx="111759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dirty="0" smtClean="0">
                <a:ln w="9525">
                  <a:noFill/>
                  <a:prstDash val="solid"/>
                </a:ln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I-MEET</a:t>
            </a:r>
            <a:endParaRPr lang="en-US" b="1" cap="none" spc="0" dirty="0">
              <a:ln w="9525">
                <a:noFill/>
                <a:prstDash val="solid"/>
              </a:ln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2342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Graphic spid="6" grpId="0">
        <p:bldAsOne/>
      </p:bldGraphic>
      <p:bldP spid="9" grpId="0" animBg="1"/>
      <p:bldP spid="1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2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-130628"/>
            <a:ext cx="12192000" cy="68797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-1" y="113528"/>
            <a:ext cx="4818743" cy="800872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en-US" sz="2800" dirty="0" smtClean="0">
                <a:solidFill>
                  <a:srgbClr val="FFFF00"/>
                </a:solidFill>
              </a:rPr>
              <a:t>Video    Demonstration Overview</a:t>
            </a:r>
            <a:br>
              <a:rPr lang="en-US" sz="2800" dirty="0" smtClean="0">
                <a:solidFill>
                  <a:srgbClr val="FFFF00"/>
                </a:solidFill>
              </a:rPr>
            </a:br>
            <a:r>
              <a:rPr lang="en-GB" sz="2800" dirty="0" smtClean="0">
                <a:solidFill>
                  <a:srgbClr val="FFFF00"/>
                </a:solidFill>
              </a:rPr>
              <a:t/>
            </a:r>
            <a:br>
              <a:rPr lang="en-GB" sz="2800" dirty="0" smtClean="0">
                <a:solidFill>
                  <a:srgbClr val="FFFF00"/>
                </a:solidFill>
              </a:rPr>
            </a:br>
            <a:endParaRPr lang="en-GB" sz="2800" dirty="0">
              <a:solidFill>
                <a:srgbClr val="FFFF00"/>
              </a:solidFill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271009179"/>
              </p:ext>
            </p:extLst>
          </p:nvPr>
        </p:nvGraphicFramePr>
        <p:xfrm>
          <a:off x="3976915" y="-79829"/>
          <a:ext cx="8055428" cy="6937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5486178"/>
            <a:ext cx="48913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video provides empirical evidence of system </a:t>
            </a:r>
            <a:r>
              <a:rPr lang="en-US" sz="2000" dirty="0" err="1"/>
              <a:t>behaviour</a:t>
            </a:r>
            <a:r>
              <a:rPr lang="en-US" sz="2000" dirty="0"/>
              <a:t> and design validity.</a:t>
            </a:r>
            <a:endParaRPr lang="en-US" sz="20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725714" y="2892362"/>
            <a:ext cx="2487387" cy="1264166"/>
            <a:chOff x="0" y="1339334"/>
            <a:chExt cx="2487387" cy="1264166"/>
          </a:xfrm>
        </p:grpSpPr>
        <p:sp>
          <p:nvSpPr>
            <p:cNvPr id="17" name="Rectangle 16"/>
            <p:cNvSpPr/>
            <p:nvPr/>
          </p:nvSpPr>
          <p:spPr>
            <a:xfrm>
              <a:off x="0" y="1346200"/>
              <a:ext cx="2438400" cy="1257300"/>
            </a:xfrm>
            <a:prstGeom prst="rect">
              <a:avLst/>
            </a:prstGeom>
            <a:solidFill>
              <a:srgbClr val="014A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178455" y="1339334"/>
              <a:ext cx="230893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2400" dirty="0">
                  <a:solidFill>
                    <a:schemeClr val="bg1"/>
                  </a:solidFill>
                </a:rPr>
                <a:t>The recorded demonstration presents: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386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2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Stored Data 14"/>
          <p:cNvSpPr/>
          <p:nvPr/>
        </p:nvSpPr>
        <p:spPr>
          <a:xfrm rot="10800000">
            <a:off x="-52755" y="2057398"/>
            <a:ext cx="3077307" cy="2567354"/>
          </a:xfrm>
          <a:prstGeom prst="flowChartOnlineStorag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855201" y="6399768"/>
            <a:ext cx="2336799" cy="36933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1" cap="none" spc="0" dirty="0" smtClean="0">
                <a:ln w="9525">
                  <a:noFill/>
                  <a:prstDash val="solid"/>
                </a:ln>
                <a:gradFill>
                  <a:gsLst>
                    <a:gs pos="34000">
                      <a:schemeClr val="accent5">
                        <a:lumMod val="50000"/>
                      </a:schemeClr>
                    </a:gs>
                    <a:gs pos="50000">
                      <a:schemeClr val="bg1"/>
                    </a:gs>
                    <a:gs pos="64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Together</a:t>
            </a:r>
            <a:endParaRPr lang="en-US" b="1" cap="none" spc="0" dirty="0">
              <a:ln w="9525">
                <a:noFill/>
                <a:prstDash val="solid"/>
              </a:ln>
              <a:gradFill>
                <a:gsLst>
                  <a:gs pos="34000">
                    <a:schemeClr val="accent5">
                      <a:lumMod val="50000"/>
                    </a:schemeClr>
                  </a:gs>
                  <a:gs pos="50000">
                    <a:schemeClr val="bg1"/>
                  </a:gs>
                  <a:gs pos="64000">
                    <a:schemeClr val="accent5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0"/>
            <a:ext cx="3540369" cy="1107830"/>
          </a:xfrm>
          <a:solidFill>
            <a:schemeClr val="tx1"/>
          </a:solidFill>
        </p:spPr>
        <p:txBody>
          <a:bodyPr/>
          <a:lstStyle/>
          <a:p>
            <a:pPr algn="ctr">
              <a:tabLst>
                <a:tab pos="1793875" algn="l"/>
              </a:tabLst>
            </a:pPr>
            <a:r>
              <a:rPr lang="en-GB" sz="4000" dirty="0" smtClean="0">
                <a:solidFill>
                  <a:srgbClr val="FFFF00"/>
                </a:solidFill>
              </a:rPr>
              <a:t>Conclusion</a:t>
            </a:r>
            <a:endParaRPr lang="en-GB" sz="4000" dirty="0">
              <a:solidFill>
                <a:srgbClr val="FFFF00"/>
              </a:solidFill>
            </a:endParaRP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32"/>
          </p:nvPr>
        </p:nvSpPr>
        <p:spPr>
          <a:xfrm>
            <a:off x="457200" y="2778370"/>
            <a:ext cx="3213876" cy="1162800"/>
          </a:xfrm>
          <a:solidFill>
            <a:srgbClr val="002060"/>
          </a:solidFill>
        </p:spPr>
        <p:txBody>
          <a:bodyPr/>
          <a:lstStyle/>
          <a:p>
            <a:r>
              <a:rPr lang="en-GB" sz="3200" dirty="0"/>
              <a:t>This project </a:t>
            </a:r>
            <a:r>
              <a:rPr lang="en-GB" sz="3200" dirty="0" smtClean="0"/>
              <a:t>demonstrates</a:t>
            </a:r>
            <a:endParaRPr lang="en-GB" sz="3200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4902293"/>
              </p:ext>
            </p:extLst>
          </p:nvPr>
        </p:nvGraphicFramePr>
        <p:xfrm>
          <a:off x="3552093" y="158261"/>
          <a:ext cx="8440615" cy="6348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30753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1">
                                            <p:graphicEl>
                                              <a:dgm id="{9ABAD064-1AEA-405E-AAB9-6938731D2B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1">
                                            <p:graphicEl>
                                              <a:dgm id="{9ABAD064-1AEA-405E-AAB9-6938731D2B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1">
                                            <p:graphicEl>
                                              <a:dgm id="{9ABAD064-1AEA-405E-AAB9-6938731D2B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1">
                                            <p:graphicEl>
                                              <a:dgm id="{9ABAD064-1AEA-405E-AAB9-6938731D2B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11">
                                            <p:graphicEl>
                                              <a:dgm id="{76F2A236-76DF-4D81-B2F2-720F4291E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11">
                                            <p:graphicEl>
                                              <a:dgm id="{76F2A236-76DF-4D81-B2F2-720F4291E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11">
                                            <p:graphicEl>
                                              <a:dgm id="{76F2A236-76DF-4D81-B2F2-720F4291E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1">
                                            <p:graphicEl>
                                              <a:dgm id="{76F2A236-76DF-4D81-B2F2-720F4291E7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11">
                                            <p:graphicEl>
                                              <a:dgm id="{CF15FD3E-16FC-44E2-9EE2-86E5E750F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1">
                                            <p:graphicEl>
                                              <a:dgm id="{CF15FD3E-16FC-44E2-9EE2-86E5E750F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11">
                                            <p:graphicEl>
                                              <a:dgm id="{CF15FD3E-16FC-44E2-9EE2-86E5E750F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1">
                                            <p:graphicEl>
                                              <a:dgm id="{CF15FD3E-16FC-44E2-9EE2-86E5E750FD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11">
                                            <p:graphicEl>
                                              <a:dgm id="{031876B3-1450-4DBA-8872-C0C0D63474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11">
                                            <p:graphicEl>
                                              <a:dgm id="{031876B3-1450-4DBA-8872-C0C0D63474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11">
                                            <p:graphicEl>
                                              <a:dgm id="{031876B3-1450-4DBA-8872-C0C0D63474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1">
                                            <p:graphicEl>
                                              <a:dgm id="{031876B3-1450-4DBA-8872-C0C0D63474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11">
                                            <p:graphicEl>
                                              <a:dgm id="{031EA29C-5862-491B-B083-28645B228D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11">
                                            <p:graphicEl>
                                              <a:dgm id="{031EA29C-5862-491B-B083-28645B228D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11">
                                            <p:graphicEl>
                                              <a:dgm id="{031EA29C-5862-491B-B083-28645B228D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11">
                                            <p:graphicEl>
                                              <a:dgm id="{031EA29C-5862-491B-B083-28645B228D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9" grpId="0" animBg="1"/>
      <p:bldP spid="14" grpId="0" build="p" animBg="1"/>
      <p:bldGraphic spid="11" grpId="0">
        <p:bldSub>
          <a:bldDgm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2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7476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0" y="217714"/>
            <a:ext cx="3540369" cy="890116"/>
          </a:xfrm>
          <a:solidFill>
            <a:srgbClr val="002060"/>
          </a:solidFill>
        </p:spPr>
        <p:txBody>
          <a:bodyPr/>
          <a:lstStyle/>
          <a:p>
            <a:pPr algn="ctr">
              <a:tabLst>
                <a:tab pos="1793875" algn="l"/>
              </a:tabLst>
            </a:pPr>
            <a:r>
              <a:rPr lang="en-GB" sz="4000" dirty="0">
                <a:solidFill>
                  <a:srgbClr val="FFFF00"/>
                </a:solidFill>
              </a:rPr>
              <a:t>References</a:t>
            </a:r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32"/>
          </p:nvPr>
        </p:nvSpPr>
        <p:spPr>
          <a:xfrm>
            <a:off x="827314" y="1225342"/>
            <a:ext cx="10930758" cy="537503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Armbrust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et al. (2010) ‘A view of cloud computing’,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 of the ACM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53(4), pp. 50–58.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Burns, B. and Oppenheimer, D. (2016) ‘Design patterns for container-based distributed systems’,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Software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33(6), pp. 52–57.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Dragoni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N. et al. (2017) ‘</a:t>
            </a:r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Yesterday, today, and tomorrow’,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 and Ulterior Software Engineering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pp. 195–216.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Newman, S. (2015)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lang="en-GB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Microservices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Sebastopol: O’Reilly Media.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Pahl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C. (2015) ‘Containerization and the PaaS cloud’,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Cloud Computing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2(3), pp. 24–31.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Shahin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M., Babar, M.A. and Zhu, L. (2017) ‘Continuous integration, delivery and deployment’, </a:t>
            </a:r>
            <a:r>
              <a:rPr lang="en-GB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Systems and Software</a:t>
            </a:r>
            <a:r>
              <a:rPr lang="en-GB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123, pp. 1–17.</a:t>
            </a:r>
          </a:p>
        </p:txBody>
      </p:sp>
    </p:spTree>
    <p:extLst>
      <p:ext uri="{BB962C8B-B14F-4D97-AF65-F5344CB8AC3E}">
        <p14:creationId xmlns:p14="http://schemas.microsoft.com/office/powerpoint/2010/main" val="269079281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=""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04025"/>
          </a:xfrm>
        </p:spPr>
      </p:pic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5885" y="2554514"/>
            <a:ext cx="5196115" cy="1190172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1.04167E-6 7.40741E-7 L 1.04167E-6 -0.07222 " pathEditMode="relative" rAng="0" ptsTypes="AA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57D58BC9-3F05-45D4-81CD-7BA898B4CAAD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90D0D0-7C1D-47FF-A2F0-9937AA567A3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EDB5DD7-8DCC-4069-9EB3-5D09818665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0</TotalTime>
  <Words>938</Words>
  <Application>Microsoft Office PowerPoint</Application>
  <PresentationFormat>Widescreen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Candara</vt:lpstr>
      <vt:lpstr>Corbel</vt:lpstr>
      <vt:lpstr>Times New Roman</vt:lpstr>
      <vt:lpstr>Wingdings</vt:lpstr>
      <vt:lpstr>Office Theme</vt:lpstr>
      <vt:lpstr>Design and Development of a Scalable Cloud-Native Photo and Video Distribution Platform</vt:lpstr>
      <vt:lpstr>PowerPoint Presentation</vt:lpstr>
      <vt:lpstr>PowerPoint Presentation</vt:lpstr>
      <vt:lpstr>Design </vt:lpstr>
      <vt:lpstr>Target System Architecture</vt:lpstr>
      <vt:lpstr>PowerPoint Presentation</vt:lpstr>
      <vt:lpstr>Technology Selection and Rationale</vt:lpstr>
      <vt:lpstr>Implementation Overview</vt:lpstr>
      <vt:lpstr>Advanced Features</vt:lpstr>
      <vt:lpstr>Scalability Evaluation</vt:lpstr>
      <vt:lpstr>Limitations </vt:lpstr>
      <vt:lpstr>Video    Demonstration Overview  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2025-12-16T14:24:34Z</dcterms:created>
  <dcterms:modified xsi:type="dcterms:W3CDTF">2025-12-17T19:16:43Z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